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everyone. Today we're talking about something that affects every woman with Parkinson's — and yet it's almost never discussed in clinical care. When estrogen leaves the building, it doesn't just affect your period. It affects your brain, your muscles, your mood, and your Parkinson's symptoms. Let's talk about what's actually happening and what you can do about it.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Perimenopause is the transition phase -- usually starting in the late 30s or early 40s. Menopause itself is defined as 12 full months without a period, and the average age is 51. But if you've had a surgical menopause -- like I did -- you hit this phase suddenly, with no gradual transition.
Here's the key Parkinson's connection: research shows that perimenopause coincides almost exactly with the prodromal phase of Parkinson's -- the window 10 to 20 years before symptoms fully emerge. Estrogen may have been protecting your brain all along. When it drops, that protection changes.
[~35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biology: estrogen isn't just a reproductive hormone. It plays a direct role in dopamine regulation -- the exact system that Parkinson's disrupts. Women actually develop Parkinson's at lower rates than men, and later in life. Many researchers believe estrogen is partly responsible for that protection.
But when estrogen drops at menopause, that protection changes. And the data reflects it: a 2023 study presented at the International Congress of Parkinson's Disease found that 68% of postmenopausal women with Parkinson's reported worsening symptoms after menopause. That's two-thirds of us. And yet almost none of these women had this conversation with their doctor.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Here's the challenge: the symptoms of menopause and the symptoms of Parkinson's look almost identical. Fatigue, sweating, urinary issues, mood changes, brain fog -- these appear in both conditions. This creates enormous confusion.
Worse, only 1 in 21 women in recent studies reported that a healthcare provider ever addressed the impact of menopause on their Parkinson's. That's a massive gap in care. You may need to advocate for your neurologist and gynaecologist to talk to each other.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menopause, you lose lean muscle mass faster than at any other point in your life. For women with Parkinson's, this is compounded -- because muscle strength directly affects your balance, posture, and ability to move.
Think of muscle as an organ of longevity. The research is clear: strength training is more important than cardio at this stage of life. That doesn't mean cardio doesn't matter -- it does. But lifting, loading the body, and building strength is the priority.
In the PPE program, that's exactly what we do. We also want you increasing protein -- aim for 1.6 grams per kilogram of body weight. And drink your water -- estrogen loss literally dries out your tissues.
[~40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can you do right now?
First -- talk to your doctor. Share what you've learned. Many healthcare providers are not trained in the intersection of menopause and Parkinson's. You may need to educate them.
Second -- explore HRT. Hormone Replacement Therapy isn't right for everyone, but for many women it significantly improves quality of life. It needs to be tailored to YOU.
Third -- eat to support your brain. Anti-inflammatory foods. Protein first at every meal. Cut the sugar.
Fourth -- lift. Heavier than you think. Your bones and brain both depend on it.
And fifth -- track your symptoms. Notice patterns. Bring that data to your appointments.
[~50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Let me leave you with this: you are not broken. Your hormones are changing, your brain is adapting, and yes -- your Parkinson's symptoms may be shifting because of it. That is real. That is valid. And it is not your fault.
But you have power here. You can train, you can eat strategically, you can advocate for yourself in every clinical setting, and you can demand that menopause be part of your Parkinson's conversation.
You train. You push. You adapt. That is your superpower. And that is what the PPE program is here to build.
Thank you.
[~30 seconds]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slideLayout" Target="../slideLayouts/slideLayout1.xml"/><Relationship Id="rId7"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2B4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4913A"/>
          </a:solidFill>
          <a:ln w="12700">
            <a:solidFill>
              <a:srgbClr val="C4913A"/>
            </a:solidFill>
            <a:prstDash val="solid"/>
          </a:ln>
        </p:spPr>
      </p:sp>
      <p:sp>
        <p:nvSpPr>
          <p:cNvPr id="3" name="Shape 1"/>
          <p:cNvSpPr/>
          <p:nvPr/>
        </p:nvSpPr>
        <p:spPr>
          <a:xfrm>
            <a:off x="0" y="5070348"/>
            <a:ext cx="9144000" cy="73152"/>
          </a:xfrm>
          <a:prstGeom prst="rect">
            <a:avLst/>
          </a:prstGeom>
          <a:solidFill>
            <a:srgbClr val="C4913A"/>
          </a:solidFill>
          <a:ln w="12700">
            <a:solidFill>
              <a:srgbClr val="C4913A"/>
            </a:solidFill>
            <a:prstDash val="solid"/>
          </a:ln>
        </p:spPr>
      </p:sp>
      <p:sp>
        <p:nvSpPr>
          <p:cNvPr id="4" name="Shape 2"/>
          <p:cNvSpPr/>
          <p:nvPr/>
        </p:nvSpPr>
        <p:spPr>
          <a:xfrm>
            <a:off x="6583680" y="548640"/>
            <a:ext cx="2194560" cy="2194560"/>
          </a:xfrm>
          <a:prstGeom prst="ellipse">
            <a:avLst/>
          </a:prstGeom>
          <a:solidFill>
            <a:srgbClr val="0D7377">
              <a:alpha val="30000"/>
            </a:srgbClr>
          </a:solidFill>
          <a:ln w="12700">
            <a:solidFill>
              <a:srgbClr val="0D7377"/>
            </a:solidFill>
            <a:prstDash val="solid"/>
          </a:ln>
        </p:spPr>
      </p:sp>
      <p:sp>
        <p:nvSpPr>
          <p:cNvPr id="5" name="Shape 3"/>
          <p:cNvSpPr/>
          <p:nvPr/>
        </p:nvSpPr>
        <p:spPr>
          <a:xfrm>
            <a:off x="6858000" y="822960"/>
            <a:ext cx="1645920" cy="1645920"/>
          </a:xfrm>
          <a:prstGeom prst="ellipse">
            <a:avLst/>
          </a:prstGeom>
          <a:solidFill>
            <a:srgbClr val="0D7377">
              <a:alpha val="60000"/>
            </a:srgbClr>
          </a:solidFill>
          <a:ln w="12700">
            <a:solidFill>
              <a:srgbClr val="0D7377"/>
            </a:solidFill>
            <a:prstDash val="solid"/>
          </a:ln>
        </p:spPr>
      </p:sp>
      <p:pic>
        <p:nvPicPr>
          <p:cNvPr id="6" name="Image 0" descr="preencoded.png">    </p:cNvPr>
          <p:cNvPicPr>
            <a:picLocks noChangeAspect="1"/>
          </p:cNvPicPr>
          <p:nvPr/>
        </p:nvPicPr>
        <p:blipFill>
          <a:blip r:embed="rId1"/>
          <a:stretch>
            <a:fillRect/>
          </a:stretch>
        </p:blipFill>
        <p:spPr>
          <a:xfrm>
            <a:off x="7223760" y="1005840"/>
            <a:ext cx="914400" cy="914400"/>
          </a:xfrm>
          <a:prstGeom prst="rect">
            <a:avLst/>
          </a:prstGeom>
        </p:spPr>
      </p:pic>
      <p:sp>
        <p:nvSpPr>
          <p:cNvPr id="7" name="Text 4"/>
          <p:cNvSpPr/>
          <p:nvPr/>
        </p:nvSpPr>
        <p:spPr>
          <a:xfrm>
            <a:off x="502920" y="685800"/>
            <a:ext cx="6217920" cy="2011680"/>
          </a:xfrm>
          <a:prstGeom prst="rect">
            <a:avLst/>
          </a:prstGeom>
          <a:noFill/>
          <a:ln/>
        </p:spPr>
        <p:txBody>
          <a:bodyPr wrap="square" rtlCol="0" anchor="ctr"/>
          <a:lstStyle/>
          <a:p>
            <a:pPr algn="l" indent="0" marL="0">
              <a:buNone/>
            </a:pPr>
            <a:r>
              <a:rPr lang="en-US" sz="4000" b="1" dirty="0">
                <a:solidFill>
                  <a:srgbClr val="FFFFFF"/>
                </a:solidFill>
                <a:latin typeface="Georgia" pitchFamily="34" charset="0"/>
                <a:ea typeface="Georgia" pitchFamily="34" charset="-122"/>
                <a:cs typeface="Georgia" pitchFamily="34" charset="-120"/>
              </a:rPr>
              <a:t>When ESTROGEN</a:t>
            </a:r>
            <a:endParaRPr lang="en-US" sz="4000" dirty="0"/>
          </a:p>
          <a:p>
            <a:pPr algn="l" indent="0" marL="0">
              <a:buNone/>
            </a:pPr>
            <a:r>
              <a:rPr lang="en-US" sz="4000" b="1" dirty="0">
                <a:solidFill>
                  <a:srgbClr val="FFFFFF"/>
                </a:solidFill>
                <a:latin typeface="Georgia" pitchFamily="34" charset="0"/>
                <a:ea typeface="Georgia" pitchFamily="34" charset="-122"/>
                <a:cs typeface="Georgia" pitchFamily="34" charset="-120"/>
              </a:rPr>
              <a:t>Leaves the Building</a:t>
            </a:r>
            <a:endParaRPr lang="en-US" sz="4000" dirty="0"/>
          </a:p>
        </p:txBody>
      </p:sp>
      <p:sp>
        <p:nvSpPr>
          <p:cNvPr id="8" name="Text 5"/>
          <p:cNvSpPr/>
          <p:nvPr/>
        </p:nvSpPr>
        <p:spPr>
          <a:xfrm>
            <a:off x="502920" y="2560320"/>
            <a:ext cx="5486400" cy="502920"/>
          </a:xfrm>
          <a:prstGeom prst="rect">
            <a:avLst/>
          </a:prstGeom>
          <a:noFill/>
          <a:ln/>
        </p:spPr>
        <p:txBody>
          <a:bodyPr wrap="square" rtlCol="0" anchor="ctr"/>
          <a:lstStyle/>
          <a:p>
            <a:pPr algn="l" indent="0" marL="0">
              <a:buNone/>
            </a:pPr>
            <a:r>
              <a:rPr lang="en-US" sz="2200" i="1" dirty="0">
                <a:solidFill>
                  <a:srgbClr val="C4913A"/>
                </a:solidFill>
                <a:latin typeface="Calibri" pitchFamily="34" charset="0"/>
                <a:ea typeface="Calibri" pitchFamily="34" charset="-122"/>
                <a:cs typeface="Calibri" pitchFamily="34" charset="-120"/>
              </a:rPr>
              <a:t>AKA Your Body :)</a:t>
            </a:r>
            <a:endParaRPr lang="en-US" sz="2200" dirty="0"/>
          </a:p>
        </p:txBody>
      </p:sp>
      <p:sp>
        <p:nvSpPr>
          <p:cNvPr id="9" name="Shape 6"/>
          <p:cNvSpPr/>
          <p:nvPr/>
        </p:nvSpPr>
        <p:spPr>
          <a:xfrm>
            <a:off x="502920" y="3154680"/>
            <a:ext cx="5029200" cy="36576"/>
          </a:xfrm>
          <a:prstGeom prst="rect">
            <a:avLst/>
          </a:prstGeom>
          <a:solidFill>
            <a:srgbClr val="0D7377"/>
          </a:solidFill>
          <a:ln w="12700">
            <a:solidFill>
              <a:srgbClr val="0D7377"/>
            </a:solidFill>
            <a:prstDash val="solid"/>
          </a:ln>
        </p:spPr>
      </p:sp>
      <p:sp>
        <p:nvSpPr>
          <p:cNvPr id="10" name="Text 7"/>
          <p:cNvSpPr/>
          <p:nvPr/>
        </p:nvSpPr>
        <p:spPr>
          <a:xfrm>
            <a:off x="502920" y="3291840"/>
            <a:ext cx="7315200" cy="822960"/>
          </a:xfrm>
          <a:prstGeom prst="rect">
            <a:avLst/>
          </a:prstGeom>
          <a:noFill/>
          <a:ln/>
        </p:spPr>
        <p:txBody>
          <a:bodyPr wrap="square" rtlCol="0" anchor="ctr"/>
          <a:lstStyle/>
          <a:p>
            <a:pPr algn="l" indent="0" marL="0">
              <a:buNone/>
            </a:pPr>
            <a:r>
              <a:rPr lang="en-US" sz="1400" dirty="0">
                <a:solidFill>
                  <a:srgbClr val="A8C8E8"/>
                </a:solidFill>
                <a:latin typeface="Calibri" pitchFamily="34" charset="0"/>
                <a:ea typeface="Calibri" pitchFamily="34" charset="-122"/>
                <a:cs typeface="Calibri" pitchFamily="34" charset="-120"/>
              </a:rPr>
              <a:t>Menopause, Parkinson's &amp; Your Power</a:t>
            </a:r>
            <a:endParaRPr lang="en-US" sz="1400" dirty="0"/>
          </a:p>
          <a:p>
            <a:pPr algn="l" indent="0" marL="0">
              <a:buNone/>
            </a:pPr>
            <a:r>
              <a:rPr lang="en-US" sz="1400" dirty="0">
                <a:solidFill>
                  <a:srgbClr val="A8C8E8"/>
                </a:solidFill>
                <a:latin typeface="Calibri" pitchFamily="34" charset="0"/>
                <a:ea typeface="Calibri" pitchFamily="34" charset="-122"/>
                <a:cs typeface="Calibri" pitchFamily="34" charset="-120"/>
              </a:rPr>
              <a:t>PPE Program  |  Boxing 4 Health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3840480" cy="5143500"/>
          </a:xfrm>
          <a:prstGeom prst="rect">
            <a:avLst/>
          </a:prstGeom>
          <a:solidFill>
            <a:srgbClr val="0D2B4E"/>
          </a:solidFill>
          <a:ln w="12700">
            <a:solidFill>
              <a:srgbClr val="0D2B4E"/>
            </a:solidFill>
            <a:prstDash val="solid"/>
          </a:ln>
        </p:spPr>
      </p:sp>
      <p:sp>
        <p:nvSpPr>
          <p:cNvPr id="3" name="Text 1"/>
          <p:cNvSpPr/>
          <p:nvPr/>
        </p:nvSpPr>
        <p:spPr>
          <a:xfrm>
            <a:off x="274320" y="640080"/>
            <a:ext cx="3291840" cy="2194560"/>
          </a:xfrm>
          <a:prstGeom prst="rect">
            <a:avLst/>
          </a:prstGeom>
          <a:noFill/>
          <a:ln/>
        </p:spPr>
        <p:txBody>
          <a:bodyPr wrap="square" rtlCol="0" anchor="t"/>
          <a:lstStyle/>
          <a:p>
            <a:pPr algn="l" indent="0" marL="0">
              <a:buNone/>
            </a:pPr>
            <a:r>
              <a:rPr lang="en-US" sz="2600" b="1" dirty="0">
                <a:solidFill>
                  <a:srgbClr val="FFFFFF"/>
                </a:solidFill>
                <a:latin typeface="Georgia" pitchFamily="34" charset="0"/>
                <a:ea typeface="Georgia" pitchFamily="34" charset="-122"/>
                <a:cs typeface="Georgia" pitchFamily="34" charset="-120"/>
              </a:rPr>
              <a:t>What Is</a:t>
            </a:r>
            <a:endParaRPr lang="en-US" sz="2600" dirty="0"/>
          </a:p>
          <a:p>
            <a:pPr algn="l" indent="0" marL="0">
              <a:buNone/>
            </a:pPr>
            <a:r>
              <a:rPr lang="en-US" sz="2600" b="1" dirty="0">
                <a:solidFill>
                  <a:srgbClr val="FFFFFF"/>
                </a:solidFill>
                <a:latin typeface="Georgia" pitchFamily="34" charset="0"/>
                <a:ea typeface="Georgia" pitchFamily="34" charset="-122"/>
                <a:cs typeface="Georgia" pitchFamily="34" charset="-120"/>
              </a:rPr>
              <a:t>Perimenopause</a:t>
            </a:r>
            <a:endParaRPr lang="en-US" sz="2600" dirty="0"/>
          </a:p>
          <a:p>
            <a:pPr algn="l" indent="0" marL="0">
              <a:buNone/>
            </a:pPr>
            <a:r>
              <a:rPr lang="en-US" sz="2600" b="1" dirty="0">
                <a:solidFill>
                  <a:srgbClr val="FFFFFF"/>
                </a:solidFill>
                <a:latin typeface="Georgia" pitchFamily="34" charset="0"/>
                <a:ea typeface="Georgia" pitchFamily="34" charset="-122"/>
                <a:cs typeface="Georgia" pitchFamily="34" charset="-120"/>
              </a:rPr>
              <a:t>&amp; Menopause?</a:t>
            </a:r>
            <a:endParaRPr lang="en-US" sz="2600" dirty="0"/>
          </a:p>
        </p:txBody>
      </p:sp>
      <p:sp>
        <p:nvSpPr>
          <p:cNvPr id="4" name="Text 2"/>
          <p:cNvSpPr/>
          <p:nvPr/>
        </p:nvSpPr>
        <p:spPr>
          <a:xfrm>
            <a:off x="274320" y="2926080"/>
            <a:ext cx="3291840" cy="914400"/>
          </a:xfrm>
          <a:prstGeom prst="rect">
            <a:avLst/>
          </a:prstGeom>
          <a:noFill/>
          <a:ln/>
        </p:spPr>
        <p:txBody>
          <a:bodyPr wrap="square" rtlCol="0" anchor="ctr"/>
          <a:lstStyle/>
          <a:p>
            <a:pPr algn="l" indent="0" marL="0">
              <a:buNone/>
            </a:pPr>
            <a:r>
              <a:rPr lang="en-US" sz="1400" i="1" dirty="0">
                <a:solidFill>
                  <a:srgbClr val="C4913A"/>
                </a:solidFill>
                <a:latin typeface="Calibri" pitchFamily="34" charset="0"/>
                <a:ea typeface="Calibri" pitchFamily="34" charset="-122"/>
                <a:cs typeface="Calibri" pitchFamily="34" charset="-120"/>
              </a:rPr>
              <a:t>It's not the end --</a:t>
            </a:r>
            <a:endParaRPr lang="en-US" sz="1400" dirty="0"/>
          </a:p>
          <a:p>
            <a:pPr algn="l" indent="0" marL="0">
              <a:buNone/>
            </a:pPr>
            <a:r>
              <a:rPr lang="en-US" sz="1400" i="1" dirty="0">
                <a:solidFill>
                  <a:srgbClr val="C4913A"/>
                </a:solidFill>
                <a:latin typeface="Calibri" pitchFamily="34" charset="0"/>
                <a:ea typeface="Calibri" pitchFamily="34" charset="-122"/>
                <a:cs typeface="Calibri" pitchFamily="34" charset="-120"/>
              </a:rPr>
              <a:t>it's a new beginning.</a:t>
            </a:r>
            <a:endParaRPr lang="en-US" sz="1400" dirty="0"/>
          </a:p>
        </p:txBody>
      </p:sp>
      <p:sp>
        <p:nvSpPr>
          <p:cNvPr id="5" name="Text 3"/>
          <p:cNvSpPr/>
          <p:nvPr/>
        </p:nvSpPr>
        <p:spPr>
          <a:xfrm>
            <a:off x="274320" y="4709160"/>
            <a:ext cx="3291840" cy="320040"/>
          </a:xfrm>
          <a:prstGeom prst="rect">
            <a:avLst/>
          </a:prstGeom>
          <a:noFill/>
          <a:ln/>
        </p:spPr>
        <p:txBody>
          <a:bodyPr wrap="square" rtlCol="0" anchor="ctr"/>
          <a:lstStyle/>
          <a:p>
            <a:pPr algn="l" indent="0" marL="0">
              <a:buNone/>
            </a:pPr>
            <a:r>
              <a:rPr lang="en-US" sz="1100" dirty="0">
                <a:solidFill>
                  <a:srgbClr val="A8C8E8"/>
                </a:solidFill>
                <a:latin typeface="Calibri" pitchFamily="34" charset="0"/>
                <a:ea typeface="Calibri" pitchFamily="34" charset="-122"/>
                <a:cs typeface="Calibri" pitchFamily="34" charset="-120"/>
              </a:rPr>
              <a:t>PPE Program</a:t>
            </a:r>
            <a:endParaRPr lang="en-US" sz="1100" dirty="0"/>
          </a:p>
        </p:txBody>
      </p:sp>
      <p:sp>
        <p:nvSpPr>
          <p:cNvPr id="6" name="Shape 4"/>
          <p:cNvSpPr/>
          <p:nvPr/>
        </p:nvSpPr>
        <p:spPr>
          <a:xfrm>
            <a:off x="4114800" y="320040"/>
            <a:ext cx="4754880" cy="1280160"/>
          </a:xfrm>
          <a:prstGeom prst="rect">
            <a:avLst/>
          </a:prstGeom>
          <a:solidFill>
            <a:srgbClr val="FFFFFF"/>
          </a:solidFill>
          <a:ln w="19050">
            <a:solidFill>
              <a:srgbClr val="0D7377"/>
            </a:solidFill>
            <a:prstDash val="solid"/>
          </a:ln>
          <a:effectLst>
            <a:outerShdw sx="100000" sy="100000" kx="0" ky="0" algn="bl" rotWithShape="0" blurRad="50800" dist="25400" dir="8100000">
              <a:srgbClr val="000000">
                <a:alpha val="10000"/>
              </a:srgbClr>
            </a:outerShdw>
          </a:effectLst>
        </p:spPr>
      </p:sp>
      <p:sp>
        <p:nvSpPr>
          <p:cNvPr id="7" name="Shape 5"/>
          <p:cNvSpPr/>
          <p:nvPr/>
        </p:nvSpPr>
        <p:spPr>
          <a:xfrm>
            <a:off x="4114800" y="320040"/>
            <a:ext cx="91440" cy="1280160"/>
          </a:xfrm>
          <a:prstGeom prst="rect">
            <a:avLst/>
          </a:prstGeom>
          <a:solidFill>
            <a:srgbClr val="0D7377"/>
          </a:solidFill>
          <a:ln w="12700">
            <a:solidFill>
              <a:srgbClr val="0D7377"/>
            </a:solidFill>
            <a:prstDash val="solid"/>
          </a:ln>
        </p:spPr>
      </p:sp>
      <p:sp>
        <p:nvSpPr>
          <p:cNvPr id="8" name="Text 6"/>
          <p:cNvSpPr/>
          <p:nvPr/>
        </p:nvSpPr>
        <p:spPr>
          <a:xfrm>
            <a:off x="4343400" y="429768"/>
            <a:ext cx="4389120" cy="320040"/>
          </a:xfrm>
          <a:prstGeom prst="rect">
            <a:avLst/>
          </a:prstGeom>
          <a:noFill/>
          <a:ln/>
        </p:spPr>
        <p:txBody>
          <a:bodyPr wrap="square" rtlCol="0" anchor="ctr"/>
          <a:lstStyle/>
          <a:p>
            <a:pPr indent="0" marL="0">
              <a:buNone/>
            </a:pPr>
            <a:r>
              <a:rPr lang="en-US" sz="1200" b="1" dirty="0">
                <a:solidFill>
                  <a:srgbClr val="0D7377"/>
                </a:solidFill>
                <a:latin typeface="Calibri" pitchFamily="34" charset="0"/>
                <a:ea typeface="Calibri" pitchFamily="34" charset="-122"/>
                <a:cs typeface="Calibri" pitchFamily="34" charset="-120"/>
              </a:rPr>
              <a:t>PERIMENOPAUSE</a:t>
            </a:r>
            <a:endParaRPr lang="en-US" sz="1200" dirty="0"/>
          </a:p>
        </p:txBody>
      </p:sp>
      <p:sp>
        <p:nvSpPr>
          <p:cNvPr id="9" name="Text 7"/>
          <p:cNvSpPr/>
          <p:nvPr/>
        </p:nvSpPr>
        <p:spPr>
          <a:xfrm>
            <a:off x="4343400" y="731520"/>
            <a:ext cx="4389120" cy="777240"/>
          </a:xfrm>
          <a:prstGeom prst="rect">
            <a:avLst/>
          </a:prstGeom>
          <a:noFill/>
          <a:ln/>
        </p:spPr>
        <p:txBody>
          <a:bodyPr wrap="square" rtlCol="0" anchor="t"/>
          <a:lstStyle/>
          <a:p>
            <a:pPr indent="0" marL="0">
              <a:buNone/>
            </a:pPr>
            <a:r>
              <a:rPr lang="en-US" sz="1200" dirty="0">
                <a:solidFill>
                  <a:srgbClr val="333333"/>
                </a:solidFill>
                <a:latin typeface="Calibri" pitchFamily="34" charset="0"/>
                <a:ea typeface="Calibri" pitchFamily="34" charset="-122"/>
                <a:cs typeface="Calibri" pitchFamily="34" charset="-120"/>
              </a:rPr>
              <a:t>The lead-up to menopause -- usually starts in your late 30s to early 40s. Hormones begin to fluctuate erratically.</a:t>
            </a:r>
            <a:endParaRPr lang="en-US" sz="1200" dirty="0"/>
          </a:p>
        </p:txBody>
      </p:sp>
      <p:sp>
        <p:nvSpPr>
          <p:cNvPr id="10" name="Shape 8"/>
          <p:cNvSpPr/>
          <p:nvPr/>
        </p:nvSpPr>
        <p:spPr>
          <a:xfrm>
            <a:off x="4114800" y="1783080"/>
            <a:ext cx="4754880" cy="1280160"/>
          </a:xfrm>
          <a:prstGeom prst="rect">
            <a:avLst/>
          </a:prstGeom>
          <a:solidFill>
            <a:srgbClr val="FFFFFF"/>
          </a:solidFill>
          <a:ln w="19050">
            <a:solidFill>
              <a:srgbClr val="1A3A5C"/>
            </a:solidFill>
            <a:prstDash val="solid"/>
          </a:ln>
          <a:effectLst>
            <a:outerShdw sx="100000" sy="100000" kx="0" ky="0" algn="bl" rotWithShape="0" blurRad="50800" dist="25400" dir="8100000">
              <a:srgbClr val="000000">
                <a:alpha val="10000"/>
              </a:srgbClr>
            </a:outerShdw>
          </a:effectLst>
        </p:spPr>
      </p:sp>
      <p:sp>
        <p:nvSpPr>
          <p:cNvPr id="11" name="Shape 9"/>
          <p:cNvSpPr/>
          <p:nvPr/>
        </p:nvSpPr>
        <p:spPr>
          <a:xfrm>
            <a:off x="4114800" y="1783080"/>
            <a:ext cx="91440" cy="1280160"/>
          </a:xfrm>
          <a:prstGeom prst="rect">
            <a:avLst/>
          </a:prstGeom>
          <a:solidFill>
            <a:srgbClr val="1A3A5C"/>
          </a:solidFill>
          <a:ln w="12700">
            <a:solidFill>
              <a:srgbClr val="1A3A5C"/>
            </a:solidFill>
            <a:prstDash val="solid"/>
          </a:ln>
        </p:spPr>
      </p:sp>
      <p:sp>
        <p:nvSpPr>
          <p:cNvPr id="12" name="Text 10"/>
          <p:cNvSpPr/>
          <p:nvPr/>
        </p:nvSpPr>
        <p:spPr>
          <a:xfrm>
            <a:off x="4343400" y="1892808"/>
            <a:ext cx="4389120" cy="320040"/>
          </a:xfrm>
          <a:prstGeom prst="rect">
            <a:avLst/>
          </a:prstGeom>
          <a:noFill/>
          <a:ln/>
        </p:spPr>
        <p:txBody>
          <a:bodyPr wrap="square" rtlCol="0" anchor="ctr"/>
          <a:lstStyle/>
          <a:p>
            <a:pPr indent="0" marL="0">
              <a:buNone/>
            </a:pPr>
            <a:r>
              <a:rPr lang="en-US" sz="1200" b="1" dirty="0">
                <a:solidFill>
                  <a:srgbClr val="1A3A5C"/>
                </a:solidFill>
                <a:latin typeface="Calibri" pitchFamily="34" charset="0"/>
                <a:ea typeface="Calibri" pitchFamily="34" charset="-122"/>
                <a:cs typeface="Calibri" pitchFamily="34" charset="-120"/>
              </a:rPr>
              <a:t>MENOPAUSE</a:t>
            </a:r>
            <a:endParaRPr lang="en-US" sz="1200" dirty="0"/>
          </a:p>
        </p:txBody>
      </p:sp>
      <p:sp>
        <p:nvSpPr>
          <p:cNvPr id="13" name="Text 11"/>
          <p:cNvSpPr/>
          <p:nvPr/>
        </p:nvSpPr>
        <p:spPr>
          <a:xfrm>
            <a:off x="4343400" y="2194560"/>
            <a:ext cx="4389120" cy="777240"/>
          </a:xfrm>
          <a:prstGeom prst="rect">
            <a:avLst/>
          </a:prstGeom>
          <a:noFill/>
          <a:ln/>
        </p:spPr>
        <p:txBody>
          <a:bodyPr wrap="square" rtlCol="0" anchor="t"/>
          <a:lstStyle/>
          <a:p>
            <a:pPr indent="0" marL="0">
              <a:buNone/>
            </a:pPr>
            <a:r>
              <a:rPr lang="en-US" sz="1200" dirty="0">
                <a:solidFill>
                  <a:srgbClr val="333333"/>
                </a:solidFill>
                <a:latin typeface="Calibri" pitchFamily="34" charset="0"/>
                <a:ea typeface="Calibri" pitchFamily="34" charset="-122"/>
                <a:cs typeface="Calibri" pitchFamily="34" charset="-120"/>
              </a:rPr>
              <a:t>Officially defined as 12 months after your last period. Average age is 51 -- but surgical menopause can happen much earlier.</a:t>
            </a:r>
            <a:endParaRPr lang="en-US" sz="1200" dirty="0"/>
          </a:p>
        </p:txBody>
      </p:sp>
      <p:sp>
        <p:nvSpPr>
          <p:cNvPr id="14" name="Shape 12"/>
          <p:cNvSpPr/>
          <p:nvPr/>
        </p:nvSpPr>
        <p:spPr>
          <a:xfrm>
            <a:off x="4114800" y="3246120"/>
            <a:ext cx="4754880" cy="1280160"/>
          </a:xfrm>
          <a:prstGeom prst="rect">
            <a:avLst/>
          </a:prstGeom>
          <a:solidFill>
            <a:srgbClr val="FFFFFF"/>
          </a:solidFill>
          <a:ln w="19050">
            <a:solidFill>
              <a:srgbClr val="C0392B"/>
            </a:solidFill>
            <a:prstDash val="solid"/>
          </a:ln>
          <a:effectLst>
            <a:outerShdw sx="100000" sy="100000" kx="0" ky="0" algn="bl" rotWithShape="0" blurRad="50800" dist="25400" dir="8100000">
              <a:srgbClr val="000000">
                <a:alpha val="10000"/>
              </a:srgbClr>
            </a:outerShdw>
          </a:effectLst>
        </p:spPr>
      </p:sp>
      <p:sp>
        <p:nvSpPr>
          <p:cNvPr id="15" name="Shape 13"/>
          <p:cNvSpPr/>
          <p:nvPr/>
        </p:nvSpPr>
        <p:spPr>
          <a:xfrm>
            <a:off x="4114800" y="3246120"/>
            <a:ext cx="91440" cy="1280160"/>
          </a:xfrm>
          <a:prstGeom prst="rect">
            <a:avLst/>
          </a:prstGeom>
          <a:solidFill>
            <a:srgbClr val="C0392B"/>
          </a:solidFill>
          <a:ln w="12700">
            <a:solidFill>
              <a:srgbClr val="C0392B"/>
            </a:solidFill>
            <a:prstDash val="solid"/>
          </a:ln>
        </p:spPr>
      </p:sp>
      <p:sp>
        <p:nvSpPr>
          <p:cNvPr id="16" name="Text 14"/>
          <p:cNvSpPr/>
          <p:nvPr/>
        </p:nvSpPr>
        <p:spPr>
          <a:xfrm>
            <a:off x="4343400" y="3355848"/>
            <a:ext cx="4389120" cy="320040"/>
          </a:xfrm>
          <a:prstGeom prst="rect">
            <a:avLst/>
          </a:prstGeom>
          <a:noFill/>
          <a:ln/>
        </p:spPr>
        <p:txBody>
          <a:bodyPr wrap="square" rtlCol="0" anchor="ctr"/>
          <a:lstStyle/>
          <a:p>
            <a:pPr indent="0" marL="0">
              <a:buNone/>
            </a:pPr>
            <a:r>
              <a:rPr lang="en-US" sz="1200" b="1" dirty="0">
                <a:solidFill>
                  <a:srgbClr val="C0392B"/>
                </a:solidFill>
                <a:latin typeface="Calibri" pitchFamily="34" charset="0"/>
                <a:ea typeface="Calibri" pitchFamily="34" charset="-122"/>
                <a:cs typeface="Calibri" pitchFamily="34" charset="-120"/>
              </a:rPr>
              <a:t>WHY IT MATTERS FOR PD</a:t>
            </a:r>
            <a:endParaRPr lang="en-US" sz="1200" dirty="0"/>
          </a:p>
        </p:txBody>
      </p:sp>
      <p:sp>
        <p:nvSpPr>
          <p:cNvPr id="17" name="Text 15"/>
          <p:cNvSpPr/>
          <p:nvPr/>
        </p:nvSpPr>
        <p:spPr>
          <a:xfrm>
            <a:off x="4343400" y="3657600"/>
            <a:ext cx="4389120" cy="777240"/>
          </a:xfrm>
          <a:prstGeom prst="rect">
            <a:avLst/>
          </a:prstGeom>
          <a:noFill/>
          <a:ln/>
        </p:spPr>
        <p:txBody>
          <a:bodyPr wrap="square" rtlCol="0" anchor="t"/>
          <a:lstStyle/>
          <a:p>
            <a:pPr indent="0" marL="0">
              <a:buNone/>
            </a:pPr>
            <a:r>
              <a:rPr lang="en-US" sz="1200" dirty="0">
                <a:solidFill>
                  <a:srgbClr val="333333"/>
                </a:solidFill>
                <a:latin typeface="Calibri" pitchFamily="34" charset="0"/>
                <a:ea typeface="Calibri" pitchFamily="34" charset="-122"/>
                <a:cs typeface="Calibri" pitchFamily="34" charset="-120"/>
              </a:rPr>
              <a:t>This hormonal transition overlaps with the window when Parkinson's symptoms may first emerge or worsen. It's a critical time.</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D2B4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4913A"/>
          </a:solidFill>
          <a:ln w="12700">
            <a:solidFill>
              <a:srgbClr val="C4913A"/>
            </a:solidFill>
            <a:prstDash val="solid"/>
          </a:ln>
        </p:spPr>
      </p:sp>
      <p:sp>
        <p:nvSpPr>
          <p:cNvPr id="3" name="Text 1"/>
          <p:cNvSpPr/>
          <p:nvPr/>
        </p:nvSpPr>
        <p:spPr>
          <a:xfrm>
            <a:off x="457200" y="182880"/>
            <a:ext cx="8229600" cy="685800"/>
          </a:xfrm>
          <a:prstGeom prst="rect">
            <a:avLst/>
          </a:prstGeom>
          <a:noFill/>
          <a:ln/>
        </p:spPr>
        <p:txBody>
          <a:bodyPr wrap="square" rtlCol="0" anchor="ctr"/>
          <a:lstStyle/>
          <a:p>
            <a:pPr algn="l" indent="0" marL="0">
              <a:buNone/>
            </a:pPr>
            <a:r>
              <a:rPr lang="en-US" sz="3400" b="1" dirty="0">
                <a:solidFill>
                  <a:srgbClr val="FFFFFF"/>
                </a:solidFill>
                <a:latin typeface="Georgia" pitchFamily="34" charset="0"/>
                <a:ea typeface="Georgia" pitchFamily="34" charset="-122"/>
                <a:cs typeface="Georgia" pitchFamily="34" charset="-120"/>
              </a:rPr>
              <a:t>Estrogen &amp; Your Brain</a:t>
            </a:r>
            <a:endParaRPr lang="en-US" sz="3400" dirty="0"/>
          </a:p>
        </p:txBody>
      </p:sp>
      <p:sp>
        <p:nvSpPr>
          <p:cNvPr id="4" name="Text 2"/>
          <p:cNvSpPr/>
          <p:nvPr/>
        </p:nvSpPr>
        <p:spPr>
          <a:xfrm>
            <a:off x="457200" y="804672"/>
            <a:ext cx="8229600" cy="365760"/>
          </a:xfrm>
          <a:prstGeom prst="rect">
            <a:avLst/>
          </a:prstGeom>
          <a:noFill/>
          <a:ln/>
        </p:spPr>
        <p:txBody>
          <a:bodyPr wrap="square" rtlCol="0" anchor="ctr"/>
          <a:lstStyle/>
          <a:p>
            <a:pPr algn="l" indent="0" marL="0">
              <a:buNone/>
            </a:pPr>
            <a:r>
              <a:rPr lang="en-US" sz="1600" i="1" dirty="0">
                <a:solidFill>
                  <a:srgbClr val="C4913A"/>
                </a:solidFill>
                <a:latin typeface="Calibri" pitchFamily="34" charset="0"/>
                <a:ea typeface="Calibri" pitchFamily="34" charset="-122"/>
                <a:cs typeface="Calibri" pitchFamily="34" charset="-120"/>
              </a:rPr>
              <a:t>Why this matters for Parkinson's</a:t>
            </a:r>
            <a:endParaRPr lang="en-US" sz="1600" dirty="0"/>
          </a:p>
        </p:txBody>
      </p:sp>
      <p:sp>
        <p:nvSpPr>
          <p:cNvPr id="5" name="Shape 3"/>
          <p:cNvSpPr/>
          <p:nvPr/>
        </p:nvSpPr>
        <p:spPr>
          <a:xfrm>
            <a:off x="365760" y="1371600"/>
            <a:ext cx="3931920" cy="960120"/>
          </a:xfrm>
          <a:prstGeom prst="rect">
            <a:avLst/>
          </a:prstGeom>
          <a:solidFill>
            <a:srgbClr val="1A3A5C"/>
          </a:solidFill>
          <a:ln w="12700">
            <a:solidFill>
              <a:srgbClr val="0D7377"/>
            </a:solidFill>
            <a:prstDash val="solid"/>
          </a:ln>
        </p:spPr>
      </p:sp>
      <p:sp>
        <p:nvSpPr>
          <p:cNvPr id="6" name="Shape 4"/>
          <p:cNvSpPr/>
          <p:nvPr/>
        </p:nvSpPr>
        <p:spPr>
          <a:xfrm>
            <a:off x="457200" y="1481328"/>
            <a:ext cx="640080" cy="640080"/>
          </a:xfrm>
          <a:prstGeom prst="ellipse">
            <a:avLst/>
          </a:prstGeom>
          <a:solidFill>
            <a:srgbClr val="0D7377"/>
          </a:solidFill>
          <a:ln w="12700">
            <a:solidFill>
              <a:srgbClr val="0D7377"/>
            </a:solidFill>
            <a:prstDash val="solid"/>
          </a:ln>
        </p:spPr>
      </p:sp>
      <p:pic>
        <p:nvPicPr>
          <p:cNvPr id="7" name="Image 0" descr="preencoded.png">    </p:cNvPr>
          <p:cNvPicPr>
            <a:picLocks noChangeAspect="1"/>
          </p:cNvPicPr>
          <p:nvPr/>
        </p:nvPicPr>
        <p:blipFill>
          <a:blip r:embed="rId1"/>
          <a:stretch>
            <a:fillRect/>
          </a:stretch>
        </p:blipFill>
        <p:spPr>
          <a:xfrm>
            <a:off x="548640" y="1536192"/>
            <a:ext cx="457200" cy="457200"/>
          </a:xfrm>
          <a:prstGeom prst="rect">
            <a:avLst/>
          </a:prstGeom>
        </p:spPr>
      </p:pic>
      <p:sp>
        <p:nvSpPr>
          <p:cNvPr id="8" name="Text 5"/>
          <p:cNvSpPr/>
          <p:nvPr/>
        </p:nvSpPr>
        <p:spPr>
          <a:xfrm>
            <a:off x="1234440" y="1444752"/>
            <a:ext cx="2926080" cy="7772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Estrogen supports dopamine production -- the same system affected by Parkinson's</a:t>
            </a:r>
            <a:endParaRPr lang="en-US" sz="1300" dirty="0"/>
          </a:p>
        </p:txBody>
      </p:sp>
      <p:sp>
        <p:nvSpPr>
          <p:cNvPr id="9" name="Shape 6"/>
          <p:cNvSpPr/>
          <p:nvPr/>
        </p:nvSpPr>
        <p:spPr>
          <a:xfrm>
            <a:off x="365760" y="2468880"/>
            <a:ext cx="3931920" cy="960120"/>
          </a:xfrm>
          <a:prstGeom prst="rect">
            <a:avLst/>
          </a:prstGeom>
          <a:solidFill>
            <a:srgbClr val="1A3A5C"/>
          </a:solidFill>
          <a:ln w="12700">
            <a:solidFill>
              <a:srgbClr val="0D7377"/>
            </a:solidFill>
            <a:prstDash val="solid"/>
          </a:ln>
        </p:spPr>
      </p:sp>
      <p:sp>
        <p:nvSpPr>
          <p:cNvPr id="10" name="Shape 7"/>
          <p:cNvSpPr/>
          <p:nvPr/>
        </p:nvSpPr>
        <p:spPr>
          <a:xfrm>
            <a:off x="457200" y="2578608"/>
            <a:ext cx="640080" cy="640080"/>
          </a:xfrm>
          <a:prstGeom prst="ellipse">
            <a:avLst/>
          </a:prstGeom>
          <a:solidFill>
            <a:srgbClr val="0D7377"/>
          </a:solidFill>
          <a:ln w="12700">
            <a:solidFill>
              <a:srgbClr val="0D7377"/>
            </a:solidFill>
            <a:prstDash val="solid"/>
          </a:ln>
        </p:spPr>
      </p:sp>
      <p:pic>
        <p:nvPicPr>
          <p:cNvPr id="11" name="Image 1" descr="preencoded.png">    </p:cNvPr>
          <p:cNvPicPr>
            <a:picLocks noChangeAspect="1"/>
          </p:cNvPicPr>
          <p:nvPr/>
        </p:nvPicPr>
        <p:blipFill>
          <a:blip r:embed="rId2"/>
          <a:stretch>
            <a:fillRect/>
          </a:stretch>
        </p:blipFill>
        <p:spPr>
          <a:xfrm>
            <a:off x="548640" y="2633472"/>
            <a:ext cx="457200" cy="457200"/>
          </a:xfrm>
          <a:prstGeom prst="rect">
            <a:avLst/>
          </a:prstGeom>
        </p:spPr>
      </p:pic>
      <p:sp>
        <p:nvSpPr>
          <p:cNvPr id="12" name="Text 8"/>
          <p:cNvSpPr/>
          <p:nvPr/>
        </p:nvSpPr>
        <p:spPr>
          <a:xfrm>
            <a:off x="1234440" y="2542032"/>
            <a:ext cx="2926080" cy="7772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Acts as a neuroprotectant -- women develop PD later than men, and at lower rates</a:t>
            </a:r>
            <a:endParaRPr lang="en-US" sz="1300" dirty="0"/>
          </a:p>
        </p:txBody>
      </p:sp>
      <p:sp>
        <p:nvSpPr>
          <p:cNvPr id="13" name="Shape 9"/>
          <p:cNvSpPr/>
          <p:nvPr/>
        </p:nvSpPr>
        <p:spPr>
          <a:xfrm>
            <a:off x="365760" y="3566160"/>
            <a:ext cx="3931920" cy="960120"/>
          </a:xfrm>
          <a:prstGeom prst="rect">
            <a:avLst/>
          </a:prstGeom>
          <a:solidFill>
            <a:srgbClr val="1A3A5C"/>
          </a:solidFill>
          <a:ln w="12700">
            <a:solidFill>
              <a:srgbClr val="0D7377"/>
            </a:solidFill>
            <a:prstDash val="solid"/>
          </a:ln>
        </p:spPr>
      </p:sp>
      <p:sp>
        <p:nvSpPr>
          <p:cNvPr id="14" name="Shape 10"/>
          <p:cNvSpPr/>
          <p:nvPr/>
        </p:nvSpPr>
        <p:spPr>
          <a:xfrm>
            <a:off x="457200" y="3675888"/>
            <a:ext cx="640080" cy="640080"/>
          </a:xfrm>
          <a:prstGeom prst="ellipse">
            <a:avLst/>
          </a:prstGeom>
          <a:solidFill>
            <a:srgbClr val="0D7377"/>
          </a:solidFill>
          <a:ln w="12700">
            <a:solidFill>
              <a:srgbClr val="0D7377"/>
            </a:solidFill>
            <a:prstDash val="solid"/>
          </a:ln>
        </p:spPr>
      </p:sp>
      <p:pic>
        <p:nvPicPr>
          <p:cNvPr id="15" name="Image 2" descr="preencoded.png">    </p:cNvPr>
          <p:cNvPicPr>
            <a:picLocks noChangeAspect="1"/>
          </p:cNvPicPr>
          <p:nvPr/>
        </p:nvPicPr>
        <p:blipFill>
          <a:blip r:embed="rId3"/>
          <a:stretch>
            <a:fillRect/>
          </a:stretch>
        </p:blipFill>
        <p:spPr>
          <a:xfrm>
            <a:off x="548640" y="3730752"/>
            <a:ext cx="457200" cy="457200"/>
          </a:xfrm>
          <a:prstGeom prst="rect">
            <a:avLst/>
          </a:prstGeom>
        </p:spPr>
      </p:pic>
      <p:sp>
        <p:nvSpPr>
          <p:cNvPr id="16" name="Text 11"/>
          <p:cNvSpPr/>
          <p:nvPr/>
        </p:nvSpPr>
        <p:spPr>
          <a:xfrm>
            <a:off x="1234440" y="3639312"/>
            <a:ext cx="2926080" cy="777240"/>
          </a:xfrm>
          <a:prstGeom prst="rect">
            <a:avLst/>
          </a:prstGeom>
          <a:noFill/>
          <a:ln/>
        </p:spPr>
        <p:txBody>
          <a:bodyPr wrap="square" rtlCol="0" anchor="ctr"/>
          <a:lstStyle/>
          <a:p>
            <a:pPr indent="0" marL="0">
              <a:buNone/>
            </a:pPr>
            <a:r>
              <a:rPr lang="en-US" sz="1300" dirty="0">
                <a:solidFill>
                  <a:srgbClr val="FFFFFF"/>
                </a:solidFill>
                <a:latin typeface="Calibri" pitchFamily="34" charset="0"/>
                <a:ea typeface="Calibri" pitchFamily="34" charset="-122"/>
                <a:cs typeface="Calibri" pitchFamily="34" charset="-120"/>
              </a:rPr>
              <a:t>When estrogen drops, dopamine regulation becomes less stable</a:t>
            </a:r>
            <a:endParaRPr lang="en-US" sz="1300" dirty="0"/>
          </a:p>
        </p:txBody>
      </p:sp>
      <p:sp>
        <p:nvSpPr>
          <p:cNvPr id="17" name="Shape 12"/>
          <p:cNvSpPr/>
          <p:nvPr/>
        </p:nvSpPr>
        <p:spPr>
          <a:xfrm>
            <a:off x="4663440" y="1280160"/>
            <a:ext cx="4114800" cy="3383280"/>
          </a:xfrm>
          <a:prstGeom prst="rect">
            <a:avLst/>
          </a:prstGeom>
          <a:solidFill>
            <a:srgbClr val="0D7377">
              <a:alpha val="15000"/>
            </a:srgbClr>
          </a:solidFill>
          <a:ln w="19050">
            <a:solidFill>
              <a:srgbClr val="0D7377"/>
            </a:solidFill>
            <a:prstDash val="solid"/>
          </a:ln>
        </p:spPr>
      </p:sp>
      <p:sp>
        <p:nvSpPr>
          <p:cNvPr id="18" name="Text 13"/>
          <p:cNvSpPr/>
          <p:nvPr/>
        </p:nvSpPr>
        <p:spPr>
          <a:xfrm>
            <a:off x="4754880" y="1371600"/>
            <a:ext cx="3931920" cy="1097280"/>
          </a:xfrm>
          <a:prstGeom prst="rect">
            <a:avLst/>
          </a:prstGeom>
          <a:noFill/>
          <a:ln/>
        </p:spPr>
        <p:txBody>
          <a:bodyPr wrap="square" rtlCol="0" anchor="ctr"/>
          <a:lstStyle/>
          <a:p>
            <a:pPr algn="ctr" indent="0" marL="0">
              <a:buNone/>
            </a:pPr>
            <a:r>
              <a:rPr lang="en-US" sz="7200" b="1" dirty="0">
                <a:solidFill>
                  <a:srgbClr val="C4913A"/>
                </a:solidFill>
                <a:latin typeface="Georgia" pitchFamily="34" charset="0"/>
                <a:ea typeface="Georgia" pitchFamily="34" charset="-122"/>
                <a:cs typeface="Georgia" pitchFamily="34" charset="-120"/>
              </a:rPr>
              <a:t>68%</a:t>
            </a:r>
            <a:endParaRPr lang="en-US" sz="7200" dirty="0"/>
          </a:p>
        </p:txBody>
      </p:sp>
      <p:sp>
        <p:nvSpPr>
          <p:cNvPr id="19" name="Text 14"/>
          <p:cNvSpPr/>
          <p:nvPr/>
        </p:nvSpPr>
        <p:spPr>
          <a:xfrm>
            <a:off x="4754880" y="2423160"/>
            <a:ext cx="3931920" cy="1463040"/>
          </a:xfrm>
          <a:prstGeom prst="rect">
            <a:avLst/>
          </a:prstGeom>
          <a:noFill/>
          <a:ln/>
        </p:spPr>
        <p:txBody>
          <a:bodyPr wrap="square" rtlCol="0" anchor="ctr"/>
          <a:lstStyle/>
          <a:p>
            <a:pPr algn="ctr" indent="0" marL="0">
              <a:buNone/>
            </a:pPr>
            <a:r>
              <a:rPr lang="en-US" sz="1500" dirty="0">
                <a:solidFill>
                  <a:srgbClr val="FFFFFF"/>
                </a:solidFill>
                <a:latin typeface="Calibri" pitchFamily="34" charset="0"/>
                <a:ea typeface="Calibri" pitchFamily="34" charset="-122"/>
                <a:cs typeface="Calibri" pitchFamily="34" charset="-120"/>
              </a:rPr>
              <a:t>of postmenopausal women</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with Parkinson's report</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worsening symptoms</a:t>
            </a:r>
            <a:endParaRPr lang="en-US" sz="1500" dirty="0"/>
          </a:p>
          <a:p>
            <a:pPr algn="ctr" indent="0" marL="0">
              <a:buNone/>
            </a:pPr>
            <a:r>
              <a:rPr lang="en-US" sz="1500" dirty="0">
                <a:solidFill>
                  <a:srgbClr val="FFFFFF"/>
                </a:solidFill>
                <a:latin typeface="Calibri" pitchFamily="34" charset="0"/>
                <a:ea typeface="Calibri" pitchFamily="34" charset="-122"/>
                <a:cs typeface="Calibri" pitchFamily="34" charset="-120"/>
              </a:rPr>
              <a:t>after menopause</a:t>
            </a:r>
            <a:endParaRPr lang="en-US" sz="1500" dirty="0"/>
          </a:p>
        </p:txBody>
      </p:sp>
      <p:sp>
        <p:nvSpPr>
          <p:cNvPr id="20" name="Text 15"/>
          <p:cNvSpPr/>
          <p:nvPr/>
        </p:nvSpPr>
        <p:spPr>
          <a:xfrm>
            <a:off x="4754880" y="4389120"/>
            <a:ext cx="3931920" cy="274320"/>
          </a:xfrm>
          <a:prstGeom prst="rect">
            <a:avLst/>
          </a:prstGeom>
          <a:noFill/>
          <a:ln/>
        </p:spPr>
        <p:txBody>
          <a:bodyPr wrap="square" rtlCol="0" anchor="ctr"/>
          <a:lstStyle/>
          <a:p>
            <a:pPr algn="ctr" indent="0" marL="0">
              <a:buNone/>
            </a:pPr>
            <a:r>
              <a:rPr lang="en-US" sz="1000" i="1" dirty="0">
                <a:solidFill>
                  <a:srgbClr val="A8C8E8"/>
                </a:solidFill>
                <a:latin typeface="Calibri" pitchFamily="34" charset="0"/>
                <a:ea typeface="Calibri" pitchFamily="34" charset="-122"/>
                <a:cs typeface="Calibri" pitchFamily="34" charset="-120"/>
              </a:rPr>
              <a:t>Kapelle et al., MDS Congress 2023</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1051560"/>
          </a:xfrm>
          <a:prstGeom prst="rect">
            <a:avLst/>
          </a:prstGeom>
          <a:solidFill>
            <a:srgbClr val="0D2B4E"/>
          </a:solidFill>
          <a:ln w="12700">
            <a:solidFill>
              <a:srgbClr val="0D2B4E"/>
            </a:solidFill>
            <a:prstDash val="solid"/>
          </a:ln>
        </p:spPr>
      </p:sp>
      <p:sp>
        <p:nvSpPr>
          <p:cNvPr id="3" name="Text 1"/>
          <p:cNvSpPr/>
          <p:nvPr/>
        </p:nvSpPr>
        <p:spPr>
          <a:xfrm>
            <a:off x="457200" y="91440"/>
            <a:ext cx="8229600" cy="594360"/>
          </a:xfrm>
          <a:prstGeom prst="rect">
            <a:avLst/>
          </a:prstGeom>
          <a:noFill/>
          <a:ln/>
        </p:spPr>
        <p:txBody>
          <a:bodyPr wrap="square" rtlCol="0" anchor="ctr"/>
          <a:lstStyle/>
          <a:p>
            <a:pPr algn="l" indent="0" marL="0">
              <a:buNone/>
            </a:pPr>
            <a:r>
              <a:rPr lang="en-US" sz="3000" b="1" dirty="0">
                <a:solidFill>
                  <a:srgbClr val="FFFFFF"/>
                </a:solidFill>
                <a:latin typeface="Georgia" pitchFamily="34" charset="0"/>
                <a:ea typeface="Georgia" pitchFamily="34" charset="-122"/>
                <a:cs typeface="Georgia" pitchFamily="34" charset="-120"/>
              </a:rPr>
              <a:t>It's Not You -- It's Your Hormones</a:t>
            </a:r>
            <a:endParaRPr lang="en-US" sz="3000" dirty="0"/>
          </a:p>
        </p:txBody>
      </p:sp>
      <p:sp>
        <p:nvSpPr>
          <p:cNvPr id="4" name="Text 2"/>
          <p:cNvSpPr/>
          <p:nvPr/>
        </p:nvSpPr>
        <p:spPr>
          <a:xfrm>
            <a:off x="457200" y="640080"/>
            <a:ext cx="8229600" cy="320040"/>
          </a:xfrm>
          <a:prstGeom prst="rect">
            <a:avLst/>
          </a:prstGeom>
          <a:noFill/>
          <a:ln/>
        </p:spPr>
        <p:txBody>
          <a:bodyPr wrap="square" rtlCol="0" anchor="ctr"/>
          <a:lstStyle/>
          <a:p>
            <a:pPr indent="0" marL="0">
              <a:buNone/>
            </a:pPr>
            <a:r>
              <a:rPr lang="en-US" sz="1400" i="1" dirty="0">
                <a:solidFill>
                  <a:srgbClr val="C4913A"/>
                </a:solidFill>
                <a:latin typeface="Calibri" pitchFamily="34" charset="0"/>
                <a:ea typeface="Calibri" pitchFamily="34" charset="-122"/>
                <a:cs typeface="Calibri" pitchFamily="34" charset="-120"/>
              </a:rPr>
              <a:t>Symptoms that overlap between menopause and Parkinson's</a:t>
            </a:r>
            <a:endParaRPr lang="en-US" sz="1400" dirty="0"/>
          </a:p>
        </p:txBody>
      </p:sp>
      <p:sp>
        <p:nvSpPr>
          <p:cNvPr id="5" name="Shape 3"/>
          <p:cNvSpPr/>
          <p:nvPr/>
        </p:nvSpPr>
        <p:spPr>
          <a:xfrm>
            <a:off x="274320" y="1143000"/>
            <a:ext cx="2788920" cy="3749040"/>
          </a:xfrm>
          <a:prstGeom prst="rect">
            <a:avLst/>
          </a:prstGeom>
          <a:solidFill>
            <a:srgbClr val="FFFFFF"/>
          </a:solidFill>
          <a:ln w="19050">
            <a:solidFill>
              <a:srgbClr val="C0392B"/>
            </a:solidFill>
            <a:prstDash val="solid"/>
          </a:ln>
          <a:effectLst>
            <a:outerShdw sx="100000" sy="100000" kx="0" ky="0" algn="bl" rotWithShape="0" blurRad="63500" dist="25400" dir="8100000">
              <a:srgbClr val="000000">
                <a:alpha val="10000"/>
              </a:srgbClr>
            </a:outerShdw>
          </a:effectLst>
        </p:spPr>
      </p:sp>
      <p:sp>
        <p:nvSpPr>
          <p:cNvPr id="6" name="Shape 4"/>
          <p:cNvSpPr/>
          <p:nvPr/>
        </p:nvSpPr>
        <p:spPr>
          <a:xfrm>
            <a:off x="274320" y="1143000"/>
            <a:ext cx="2788920" cy="502920"/>
          </a:xfrm>
          <a:prstGeom prst="rect">
            <a:avLst/>
          </a:prstGeom>
          <a:solidFill>
            <a:srgbClr val="C0392B"/>
          </a:solidFill>
          <a:ln w="12700">
            <a:solidFill>
              <a:srgbClr val="C0392B"/>
            </a:solidFill>
            <a:prstDash val="solid"/>
          </a:ln>
        </p:spPr>
      </p:sp>
      <p:pic>
        <p:nvPicPr>
          <p:cNvPr id="7" name="Image 0" descr="preencoded.png">    </p:cNvPr>
          <p:cNvPicPr>
            <a:picLocks noChangeAspect="1"/>
          </p:cNvPicPr>
          <p:nvPr/>
        </p:nvPicPr>
        <p:blipFill>
          <a:blip r:embed="rId1"/>
          <a:stretch>
            <a:fillRect/>
          </a:stretch>
        </p:blipFill>
        <p:spPr>
          <a:xfrm>
            <a:off x="347472" y="1179576"/>
            <a:ext cx="365760" cy="365760"/>
          </a:xfrm>
          <a:prstGeom prst="rect">
            <a:avLst/>
          </a:prstGeom>
        </p:spPr>
      </p:pic>
      <p:sp>
        <p:nvSpPr>
          <p:cNvPr id="8" name="Text 5"/>
          <p:cNvSpPr/>
          <p:nvPr/>
        </p:nvSpPr>
        <p:spPr>
          <a:xfrm>
            <a:off x="777240" y="1161288"/>
            <a:ext cx="2194560" cy="4572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Low Estrogen Symptoms</a:t>
            </a:r>
            <a:endParaRPr lang="en-US" sz="1100" dirty="0"/>
          </a:p>
        </p:txBody>
      </p:sp>
      <p:sp>
        <p:nvSpPr>
          <p:cNvPr id="9" name="Text 6"/>
          <p:cNvSpPr/>
          <p:nvPr/>
        </p:nvSpPr>
        <p:spPr>
          <a:xfrm>
            <a:off x="384048" y="1709928"/>
            <a:ext cx="2560320" cy="3063240"/>
          </a:xfrm>
          <a:prstGeom prst="rect">
            <a:avLst/>
          </a:prstGeom>
          <a:noFill/>
          <a:ln/>
        </p:spPr>
        <p:txBody>
          <a:bodyPr wrap="square" rtlCol="0" anchor="t"/>
          <a:lstStyle/>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Hot flashes</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Weight gain &amp; bloating</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Vaginal dryness</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Brain fog</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Mood swings &amp; anxiety</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Urinary incontinence</a:t>
            </a:r>
            <a:endParaRPr lang="en-US" sz="1200" dirty="0"/>
          </a:p>
          <a:p>
            <a:pPr indent="0" marL="0">
              <a:buNone/>
            </a:pPr>
            <a:endParaRPr lang="en-US" sz="1200" dirty="0"/>
          </a:p>
        </p:txBody>
      </p:sp>
      <p:sp>
        <p:nvSpPr>
          <p:cNvPr id="10" name="Shape 7"/>
          <p:cNvSpPr/>
          <p:nvPr/>
        </p:nvSpPr>
        <p:spPr>
          <a:xfrm>
            <a:off x="3246120" y="1143000"/>
            <a:ext cx="2788920" cy="3749040"/>
          </a:xfrm>
          <a:prstGeom prst="rect">
            <a:avLst/>
          </a:prstGeom>
          <a:solidFill>
            <a:srgbClr val="FFFFFF"/>
          </a:solidFill>
          <a:ln w="19050">
            <a:solidFill>
              <a:srgbClr val="0D7377"/>
            </a:solidFill>
            <a:prstDash val="solid"/>
          </a:ln>
          <a:effectLst>
            <a:outerShdw sx="100000" sy="100000" kx="0" ky="0" algn="bl" rotWithShape="0" blurRad="63500" dist="25400" dir="8100000">
              <a:srgbClr val="000000">
                <a:alpha val="10000"/>
              </a:srgbClr>
            </a:outerShdw>
          </a:effectLst>
        </p:spPr>
      </p:sp>
      <p:sp>
        <p:nvSpPr>
          <p:cNvPr id="11" name="Shape 8"/>
          <p:cNvSpPr/>
          <p:nvPr/>
        </p:nvSpPr>
        <p:spPr>
          <a:xfrm>
            <a:off x="3246120" y="1143000"/>
            <a:ext cx="2788920" cy="502920"/>
          </a:xfrm>
          <a:prstGeom prst="rect">
            <a:avLst/>
          </a:prstGeom>
          <a:solidFill>
            <a:srgbClr val="0D7377"/>
          </a:solidFill>
          <a:ln w="12700">
            <a:solidFill>
              <a:srgbClr val="0D7377"/>
            </a:solidFill>
            <a:prstDash val="solid"/>
          </a:ln>
        </p:spPr>
      </p:sp>
      <p:pic>
        <p:nvPicPr>
          <p:cNvPr id="12" name="Image 1" descr="preencoded.png">    </p:cNvPr>
          <p:cNvPicPr>
            <a:picLocks noChangeAspect="1"/>
          </p:cNvPicPr>
          <p:nvPr/>
        </p:nvPicPr>
        <p:blipFill>
          <a:blip r:embed="rId2"/>
          <a:stretch>
            <a:fillRect/>
          </a:stretch>
        </p:blipFill>
        <p:spPr>
          <a:xfrm>
            <a:off x="3319272" y="1179576"/>
            <a:ext cx="365760" cy="365760"/>
          </a:xfrm>
          <a:prstGeom prst="rect">
            <a:avLst/>
          </a:prstGeom>
        </p:spPr>
      </p:pic>
      <p:sp>
        <p:nvSpPr>
          <p:cNvPr id="13" name="Text 9"/>
          <p:cNvSpPr/>
          <p:nvPr/>
        </p:nvSpPr>
        <p:spPr>
          <a:xfrm>
            <a:off x="3749040" y="1161288"/>
            <a:ext cx="2194560" cy="4572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Parkinson's Symptoms That Worsen</a:t>
            </a:r>
            <a:endParaRPr lang="en-US" sz="1100" dirty="0"/>
          </a:p>
        </p:txBody>
      </p:sp>
      <p:sp>
        <p:nvSpPr>
          <p:cNvPr id="14" name="Text 10"/>
          <p:cNvSpPr/>
          <p:nvPr/>
        </p:nvSpPr>
        <p:spPr>
          <a:xfrm>
            <a:off x="3355848" y="1709928"/>
            <a:ext cx="2560320" cy="3063240"/>
          </a:xfrm>
          <a:prstGeom prst="rect">
            <a:avLst/>
          </a:prstGeom>
          <a:noFill/>
          <a:ln/>
        </p:spPr>
        <p:txBody>
          <a:bodyPr wrap="square" rtlCol="0" anchor="t"/>
          <a:lstStyle/>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Fatigue (45% of women)</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Increased sweating (42%)</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Urinary issues (42%)</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Bradykinesia (23%)</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Tremor worsens (19%)</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Medication wearing off sooner</a:t>
            </a:r>
            <a:endParaRPr lang="en-US" sz="1200" dirty="0"/>
          </a:p>
          <a:p>
            <a:pPr indent="0" marL="0">
              <a:buNone/>
            </a:pPr>
            <a:endParaRPr lang="en-US" sz="1200" dirty="0"/>
          </a:p>
        </p:txBody>
      </p:sp>
      <p:sp>
        <p:nvSpPr>
          <p:cNvPr id="15" name="Shape 11"/>
          <p:cNvSpPr/>
          <p:nvPr/>
        </p:nvSpPr>
        <p:spPr>
          <a:xfrm>
            <a:off x="6217920" y="1143000"/>
            <a:ext cx="2788920" cy="3749040"/>
          </a:xfrm>
          <a:prstGeom prst="rect">
            <a:avLst/>
          </a:prstGeom>
          <a:solidFill>
            <a:srgbClr val="FFFFFF"/>
          </a:solidFill>
          <a:ln w="19050">
            <a:solidFill>
              <a:srgbClr val="8A4500"/>
            </a:solidFill>
            <a:prstDash val="solid"/>
          </a:ln>
          <a:effectLst>
            <a:outerShdw sx="100000" sy="100000" kx="0" ky="0" algn="bl" rotWithShape="0" blurRad="63500" dist="25400" dir="8100000">
              <a:srgbClr val="000000">
                <a:alpha val="10000"/>
              </a:srgbClr>
            </a:outerShdw>
          </a:effectLst>
        </p:spPr>
      </p:sp>
      <p:sp>
        <p:nvSpPr>
          <p:cNvPr id="16" name="Shape 12"/>
          <p:cNvSpPr/>
          <p:nvPr/>
        </p:nvSpPr>
        <p:spPr>
          <a:xfrm>
            <a:off x="6217920" y="1143000"/>
            <a:ext cx="2788920" cy="502920"/>
          </a:xfrm>
          <a:prstGeom prst="rect">
            <a:avLst/>
          </a:prstGeom>
          <a:solidFill>
            <a:srgbClr val="8A4500"/>
          </a:solidFill>
          <a:ln w="12700">
            <a:solidFill>
              <a:srgbClr val="8A4500"/>
            </a:solidFill>
            <a:prstDash val="solid"/>
          </a:ln>
        </p:spPr>
      </p:sp>
      <p:pic>
        <p:nvPicPr>
          <p:cNvPr id="17" name="Image 2" descr="preencoded.png">    </p:cNvPr>
          <p:cNvPicPr>
            <a:picLocks noChangeAspect="1"/>
          </p:cNvPicPr>
          <p:nvPr/>
        </p:nvPicPr>
        <p:blipFill>
          <a:blip r:embed="rId3"/>
          <a:stretch>
            <a:fillRect/>
          </a:stretch>
        </p:blipFill>
        <p:spPr>
          <a:xfrm>
            <a:off x="6291072" y="1179576"/>
            <a:ext cx="365760" cy="365760"/>
          </a:xfrm>
          <a:prstGeom prst="rect">
            <a:avLst/>
          </a:prstGeom>
        </p:spPr>
      </p:pic>
      <p:sp>
        <p:nvSpPr>
          <p:cNvPr id="18" name="Text 13"/>
          <p:cNvSpPr/>
          <p:nvPr/>
        </p:nvSpPr>
        <p:spPr>
          <a:xfrm>
            <a:off x="6720840" y="1161288"/>
            <a:ext cx="2194560" cy="457200"/>
          </a:xfrm>
          <a:prstGeom prst="rect">
            <a:avLst/>
          </a:prstGeom>
          <a:noFill/>
          <a:ln/>
        </p:spPr>
        <p:txBody>
          <a:bodyPr wrap="square" rtlCol="0" anchor="ctr"/>
          <a:lstStyle/>
          <a:p>
            <a:pPr indent="0" marL="0">
              <a:buNone/>
            </a:pPr>
            <a:r>
              <a:rPr lang="en-US" sz="1100" b="1" dirty="0">
                <a:solidFill>
                  <a:srgbClr val="FFFFFF"/>
                </a:solidFill>
                <a:latin typeface="Calibri" pitchFamily="34" charset="0"/>
                <a:ea typeface="Calibri" pitchFamily="34" charset="-122"/>
                <a:cs typeface="Calibri" pitchFamily="34" charset="-120"/>
              </a:rPr>
              <a:t>The Problem</a:t>
            </a:r>
            <a:endParaRPr lang="en-US" sz="1100" dirty="0"/>
          </a:p>
        </p:txBody>
      </p:sp>
      <p:sp>
        <p:nvSpPr>
          <p:cNvPr id="19" name="Text 14"/>
          <p:cNvSpPr/>
          <p:nvPr/>
        </p:nvSpPr>
        <p:spPr>
          <a:xfrm>
            <a:off x="6327648" y="1709928"/>
            <a:ext cx="2560320" cy="3063240"/>
          </a:xfrm>
          <a:prstGeom prst="rect">
            <a:avLst/>
          </a:prstGeom>
          <a:noFill/>
          <a:ln/>
        </p:spPr>
        <p:txBody>
          <a:bodyPr wrap="square" rtlCol="0" anchor="t"/>
          <a:lstStyle/>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Symptoms look identical</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Doctors confuse them</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PD meds may need adjusting</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Only 1 in 21 women discussed this with a provider</a:t>
            </a:r>
            <a:endParaRPr lang="en-US" sz="1200" dirty="0"/>
          </a:p>
          <a:p>
            <a:pPr marL="342900" indent="-342900">
              <a:spcAft>
                <a:spcPts val="400"/>
              </a:spcAft>
              <a:buSzPct val="100000"/>
              <a:buChar char="•"/>
            </a:pPr>
            <a:r>
              <a:rPr lang="en-US" sz="1200" dirty="0">
                <a:solidFill>
                  <a:srgbClr val="333333"/>
                </a:solidFill>
                <a:latin typeface="Calibri" pitchFamily="34" charset="0"/>
                <a:ea typeface="Calibri" pitchFamily="34" charset="-122"/>
                <a:cs typeface="Calibri" pitchFamily="34" charset="-120"/>
              </a:rPr>
              <a:t>You may need both a neurologist AND a gynaecologist</a:t>
            </a:r>
            <a:endParaRPr lang="en-US" sz="1200" dirty="0"/>
          </a:p>
          <a:p>
            <a:pPr indent="0" marL="0">
              <a:buNone/>
            </a:pPr>
            <a:endParaRPr lang="en-US" sz="12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D2B4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4913A"/>
          </a:solidFill>
          <a:ln w="12700">
            <a:solidFill>
              <a:srgbClr val="C4913A"/>
            </a:solidFill>
            <a:prstDash val="solid"/>
          </a:ln>
        </p:spPr>
      </p:sp>
      <p:sp>
        <p:nvSpPr>
          <p:cNvPr id="3" name="Text 1"/>
          <p:cNvSpPr/>
          <p:nvPr/>
        </p:nvSpPr>
        <p:spPr>
          <a:xfrm>
            <a:off x="457200" y="182880"/>
            <a:ext cx="8229600" cy="640080"/>
          </a:xfrm>
          <a:prstGeom prst="rect">
            <a:avLst/>
          </a:prstGeom>
          <a:noFill/>
          <a:ln/>
        </p:spPr>
        <p:txBody>
          <a:bodyPr wrap="square" rtlCol="0" anchor="ctr"/>
          <a:lstStyle/>
          <a:p>
            <a:pPr algn="l" indent="0" marL="0">
              <a:buNone/>
            </a:pPr>
            <a:r>
              <a:rPr lang="en-US" sz="3400" b="1" dirty="0">
                <a:solidFill>
                  <a:srgbClr val="FFFFFF"/>
                </a:solidFill>
                <a:latin typeface="Georgia" pitchFamily="34" charset="0"/>
                <a:ea typeface="Georgia" pitchFamily="34" charset="-122"/>
                <a:cs typeface="Georgia" pitchFamily="34" charset="-120"/>
              </a:rPr>
              <a:t>Muscle Is Your Superpower</a:t>
            </a:r>
            <a:endParaRPr lang="en-US" sz="3400" dirty="0"/>
          </a:p>
        </p:txBody>
      </p:sp>
      <p:sp>
        <p:nvSpPr>
          <p:cNvPr id="4" name="Text 2"/>
          <p:cNvSpPr/>
          <p:nvPr/>
        </p:nvSpPr>
        <p:spPr>
          <a:xfrm>
            <a:off x="457200" y="777240"/>
            <a:ext cx="8229600" cy="347472"/>
          </a:xfrm>
          <a:prstGeom prst="rect">
            <a:avLst/>
          </a:prstGeom>
          <a:noFill/>
          <a:ln/>
        </p:spPr>
        <p:txBody>
          <a:bodyPr wrap="square" rtlCol="0" anchor="ctr"/>
          <a:lstStyle/>
          <a:p>
            <a:pPr indent="0" marL="0">
              <a:buNone/>
            </a:pPr>
            <a:r>
              <a:rPr lang="en-US" sz="1600" i="1" dirty="0">
                <a:solidFill>
                  <a:srgbClr val="C4913A"/>
                </a:solidFill>
                <a:latin typeface="Calibri" pitchFamily="34" charset="0"/>
                <a:ea typeface="Calibri" pitchFamily="34" charset="-122"/>
                <a:cs typeface="Calibri" pitchFamily="34" charset="-120"/>
              </a:rPr>
              <a:t>Building Strength in Midlife with Parkinson's</a:t>
            </a:r>
            <a:endParaRPr lang="en-US" sz="1600" dirty="0"/>
          </a:p>
        </p:txBody>
      </p:sp>
      <p:sp>
        <p:nvSpPr>
          <p:cNvPr id="5" name="Shape 3"/>
          <p:cNvSpPr/>
          <p:nvPr/>
        </p:nvSpPr>
        <p:spPr>
          <a:xfrm>
            <a:off x="365760" y="1280160"/>
            <a:ext cx="4023360" cy="3474720"/>
          </a:xfrm>
          <a:prstGeom prst="rect">
            <a:avLst/>
          </a:prstGeom>
          <a:solidFill>
            <a:srgbClr val="1A3A5C"/>
          </a:solidFill>
          <a:ln w="19050">
            <a:solidFill>
              <a:srgbClr val="0D7377"/>
            </a:solidFill>
            <a:prstDash val="solid"/>
          </a:ln>
        </p:spPr>
      </p:sp>
      <p:sp>
        <p:nvSpPr>
          <p:cNvPr id="6" name="Text 4"/>
          <p:cNvSpPr/>
          <p:nvPr/>
        </p:nvSpPr>
        <p:spPr>
          <a:xfrm>
            <a:off x="548640" y="1417320"/>
            <a:ext cx="3566160" cy="3108960"/>
          </a:xfrm>
          <a:prstGeom prst="rect">
            <a:avLst/>
          </a:prstGeom>
          <a:noFill/>
          <a:ln/>
        </p:spPr>
        <p:txBody>
          <a:bodyPr wrap="square" rtlCol="0" anchor="t"/>
          <a:lstStyle/>
          <a:p>
            <a:pPr indent="0" marL="0">
              <a:buNone/>
            </a:pPr>
            <a:r>
              <a:rPr lang="en-US" sz="1400" dirty="0">
                <a:solidFill>
                  <a:srgbClr val="D0E0F0"/>
                </a:solidFill>
                <a:latin typeface="Calibri" pitchFamily="34" charset="0"/>
                <a:ea typeface="Calibri" pitchFamily="34" charset="-122"/>
                <a:cs typeface="Calibri" pitchFamily="34" charset="-120"/>
              </a:rPr>
              <a:t>After menopause, lean muscle mass declines faster -- and for women with Parkinson's, this compounds existing challenges with balance, posture, and rigidity.
</a:t>
            </a:r>
            <a:pPr indent="0" marL="0">
              <a:buNone/>
            </a:pPr>
            <a:r>
              <a:rPr lang="en-US" sz="1400" b="1" dirty="0">
                <a:solidFill>
                  <a:srgbClr val="C4913A"/>
                </a:solidFill>
                <a:latin typeface="Calibri" pitchFamily="34" charset="0"/>
                <a:ea typeface="Calibri" pitchFamily="34" charset="-122"/>
                <a:cs typeface="Calibri" pitchFamily="34" charset="-120"/>
              </a:rPr>
              <a:t>Muscle is an organ of longevity.</a:t>
            </a:r>
            <a:endParaRPr lang="en-US" sz="1400" dirty="0"/>
          </a:p>
          <a:p>
            <a:pPr indent="0" marL="0">
              <a:buNone/>
            </a:pPr>
            <a:r>
              <a:rPr lang="en-US" sz="1400" dirty="0">
                <a:solidFill>
                  <a:srgbClr val="D0E0F0"/>
                </a:solidFill>
                <a:latin typeface="Calibri" pitchFamily="34" charset="0"/>
                <a:ea typeface="Calibri" pitchFamily="34" charset="-122"/>
                <a:cs typeface="Calibri" pitchFamily="34" charset="-120"/>
              </a:rPr>
              <a:t>
Strength training -- not cardio -- is the priority. Cardio is good. Lifting is essential.
</a:t>
            </a:r>
            <a:pPr indent="0" marL="0">
              <a:buNone/>
            </a:pPr>
            <a:r>
              <a:rPr lang="en-US" sz="1400" b="1" dirty="0">
                <a:solidFill>
                  <a:srgbClr val="FFFFFF"/>
                </a:solidFill>
                <a:latin typeface="Calibri" pitchFamily="34" charset="0"/>
                <a:ea typeface="Calibri" pitchFamily="34" charset="-122"/>
                <a:cs typeface="Calibri" pitchFamily="34" charset="-120"/>
              </a:rPr>
              <a:t>In the PPE program, we build both.</a:t>
            </a:r>
            <a:endParaRPr lang="en-US" sz="1400" dirty="0"/>
          </a:p>
        </p:txBody>
      </p:sp>
      <p:sp>
        <p:nvSpPr>
          <p:cNvPr id="7" name="Shape 5"/>
          <p:cNvSpPr/>
          <p:nvPr/>
        </p:nvSpPr>
        <p:spPr>
          <a:xfrm>
            <a:off x="4663440" y="1280160"/>
            <a:ext cx="4114800" cy="1097280"/>
          </a:xfrm>
          <a:prstGeom prst="rect">
            <a:avLst/>
          </a:prstGeom>
          <a:solidFill>
            <a:srgbClr val="FFFFFF"/>
          </a:solidFill>
          <a:ln w="12700">
            <a:solidFill>
              <a:srgbClr val="0D7377"/>
            </a:solidFill>
            <a:prstDash val="solid"/>
          </a:ln>
          <a:effectLst>
            <a:outerShdw sx="100000" sy="100000" kx="0" ky="0" algn="bl" rotWithShape="0" blurRad="50800" dist="25400" dir="8100000">
              <a:srgbClr val="000000">
                <a:alpha val="12000"/>
              </a:srgbClr>
            </a:outerShdw>
          </a:effectLst>
        </p:spPr>
      </p:sp>
      <p:sp>
        <p:nvSpPr>
          <p:cNvPr id="8" name="Shape 6"/>
          <p:cNvSpPr/>
          <p:nvPr/>
        </p:nvSpPr>
        <p:spPr>
          <a:xfrm>
            <a:off x="4663440" y="1280160"/>
            <a:ext cx="685800" cy="1097280"/>
          </a:xfrm>
          <a:prstGeom prst="rect">
            <a:avLst/>
          </a:prstGeom>
          <a:solidFill>
            <a:srgbClr val="0D7377"/>
          </a:solidFill>
          <a:ln w="12700">
            <a:solidFill>
              <a:srgbClr val="0D7377"/>
            </a:solidFill>
            <a:prstDash val="solid"/>
          </a:ln>
        </p:spPr>
      </p:sp>
      <p:sp>
        <p:nvSpPr>
          <p:cNvPr id="9" name="Text 7"/>
          <p:cNvSpPr/>
          <p:nvPr/>
        </p:nvSpPr>
        <p:spPr>
          <a:xfrm>
            <a:off x="4672584" y="1325880"/>
            <a:ext cx="667512" cy="4114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01</a:t>
            </a:r>
            <a:endParaRPr lang="en-US" sz="1300" dirty="0"/>
          </a:p>
        </p:txBody>
      </p:sp>
      <p:pic>
        <p:nvPicPr>
          <p:cNvPr id="10" name="Image 0" descr="preencoded.png">    </p:cNvPr>
          <p:cNvPicPr>
            <a:picLocks noChangeAspect="1"/>
          </p:cNvPicPr>
          <p:nvPr/>
        </p:nvPicPr>
        <p:blipFill>
          <a:blip r:embed="rId1"/>
          <a:stretch>
            <a:fillRect/>
          </a:stretch>
        </p:blipFill>
        <p:spPr>
          <a:xfrm>
            <a:off x="4736592" y="1755648"/>
            <a:ext cx="365760" cy="365760"/>
          </a:xfrm>
          <a:prstGeom prst="rect">
            <a:avLst/>
          </a:prstGeom>
        </p:spPr>
      </p:pic>
      <p:sp>
        <p:nvSpPr>
          <p:cNvPr id="11" name="Text 8"/>
          <p:cNvSpPr/>
          <p:nvPr/>
        </p:nvSpPr>
        <p:spPr>
          <a:xfrm>
            <a:off x="5440680" y="1371600"/>
            <a:ext cx="3200400" cy="347472"/>
          </a:xfrm>
          <a:prstGeom prst="rect">
            <a:avLst/>
          </a:prstGeom>
          <a:noFill/>
          <a:ln/>
        </p:spPr>
        <p:txBody>
          <a:bodyPr wrap="square" rtlCol="0" anchor="ctr"/>
          <a:lstStyle/>
          <a:p>
            <a:pPr indent="0" marL="0">
              <a:buNone/>
            </a:pPr>
            <a:r>
              <a:rPr lang="en-US" sz="1300" b="1" dirty="0">
                <a:solidFill>
                  <a:srgbClr val="0D2B4E"/>
                </a:solidFill>
                <a:latin typeface="Calibri" pitchFamily="34" charset="0"/>
                <a:ea typeface="Calibri" pitchFamily="34" charset="-122"/>
                <a:cs typeface="Calibri" pitchFamily="34" charset="-120"/>
              </a:rPr>
              <a:t>Strength train 2-3x/week</a:t>
            </a:r>
            <a:endParaRPr lang="en-US" sz="1300" dirty="0"/>
          </a:p>
        </p:txBody>
      </p:sp>
      <p:sp>
        <p:nvSpPr>
          <p:cNvPr id="12" name="Text 9"/>
          <p:cNvSpPr/>
          <p:nvPr/>
        </p:nvSpPr>
        <p:spPr>
          <a:xfrm>
            <a:off x="5440680" y="1719072"/>
            <a:ext cx="3200400" cy="566928"/>
          </a:xfrm>
          <a:prstGeom prst="rect">
            <a:avLst/>
          </a:prstGeom>
          <a:noFill/>
          <a:ln/>
        </p:spPr>
        <p:txBody>
          <a:bodyPr wrap="square" rtlCol="0" anchor="ctr"/>
          <a:lstStyle/>
          <a:p>
            <a:pPr indent="0" marL="0">
              <a:buNone/>
            </a:pPr>
            <a:r>
              <a:rPr lang="en-US" sz="1150" dirty="0">
                <a:solidFill>
                  <a:srgbClr val="555555"/>
                </a:solidFill>
                <a:latin typeface="Calibri" pitchFamily="34" charset="0"/>
                <a:ea typeface="Calibri" pitchFamily="34" charset="-122"/>
                <a:cs typeface="Calibri" pitchFamily="34" charset="-120"/>
              </a:rPr>
              <a:t>Boosts metabolism, preserves muscle, improves PD motor function</a:t>
            </a:r>
            <a:endParaRPr lang="en-US" sz="1150" dirty="0"/>
          </a:p>
        </p:txBody>
      </p:sp>
      <p:sp>
        <p:nvSpPr>
          <p:cNvPr id="13" name="Shape 10"/>
          <p:cNvSpPr/>
          <p:nvPr/>
        </p:nvSpPr>
        <p:spPr>
          <a:xfrm>
            <a:off x="4663440" y="2514600"/>
            <a:ext cx="4114800" cy="1097280"/>
          </a:xfrm>
          <a:prstGeom prst="rect">
            <a:avLst/>
          </a:prstGeom>
          <a:solidFill>
            <a:srgbClr val="FFFFFF"/>
          </a:solidFill>
          <a:ln w="12700">
            <a:solidFill>
              <a:srgbClr val="0D7377"/>
            </a:solidFill>
            <a:prstDash val="solid"/>
          </a:ln>
          <a:effectLst>
            <a:outerShdw sx="100000" sy="100000" kx="0" ky="0" algn="bl" rotWithShape="0" blurRad="50800" dist="25400" dir="8100000">
              <a:srgbClr val="000000">
                <a:alpha val="12000"/>
              </a:srgbClr>
            </a:outerShdw>
          </a:effectLst>
        </p:spPr>
      </p:sp>
      <p:sp>
        <p:nvSpPr>
          <p:cNvPr id="14" name="Shape 11"/>
          <p:cNvSpPr/>
          <p:nvPr/>
        </p:nvSpPr>
        <p:spPr>
          <a:xfrm>
            <a:off x="4663440" y="2514600"/>
            <a:ext cx="685800" cy="1097280"/>
          </a:xfrm>
          <a:prstGeom prst="rect">
            <a:avLst/>
          </a:prstGeom>
          <a:solidFill>
            <a:srgbClr val="0D7377"/>
          </a:solidFill>
          <a:ln w="12700">
            <a:solidFill>
              <a:srgbClr val="0D7377"/>
            </a:solidFill>
            <a:prstDash val="solid"/>
          </a:ln>
        </p:spPr>
      </p:sp>
      <p:sp>
        <p:nvSpPr>
          <p:cNvPr id="15" name="Text 12"/>
          <p:cNvSpPr/>
          <p:nvPr/>
        </p:nvSpPr>
        <p:spPr>
          <a:xfrm>
            <a:off x="4672584" y="2560320"/>
            <a:ext cx="667512" cy="4114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02</a:t>
            </a:r>
            <a:endParaRPr lang="en-US" sz="1300" dirty="0"/>
          </a:p>
        </p:txBody>
      </p:sp>
      <p:pic>
        <p:nvPicPr>
          <p:cNvPr id="16" name="Image 1" descr="preencoded.png">    </p:cNvPr>
          <p:cNvPicPr>
            <a:picLocks noChangeAspect="1"/>
          </p:cNvPicPr>
          <p:nvPr/>
        </p:nvPicPr>
        <p:blipFill>
          <a:blip r:embed="rId2"/>
          <a:stretch>
            <a:fillRect/>
          </a:stretch>
        </p:blipFill>
        <p:spPr>
          <a:xfrm>
            <a:off x="4736592" y="2990088"/>
            <a:ext cx="365760" cy="365760"/>
          </a:xfrm>
          <a:prstGeom prst="rect">
            <a:avLst/>
          </a:prstGeom>
        </p:spPr>
      </p:pic>
      <p:sp>
        <p:nvSpPr>
          <p:cNvPr id="17" name="Text 13"/>
          <p:cNvSpPr/>
          <p:nvPr/>
        </p:nvSpPr>
        <p:spPr>
          <a:xfrm>
            <a:off x="5440680" y="2606040"/>
            <a:ext cx="3200400" cy="347472"/>
          </a:xfrm>
          <a:prstGeom prst="rect">
            <a:avLst/>
          </a:prstGeom>
          <a:noFill/>
          <a:ln/>
        </p:spPr>
        <p:txBody>
          <a:bodyPr wrap="square" rtlCol="0" anchor="ctr"/>
          <a:lstStyle/>
          <a:p>
            <a:pPr indent="0" marL="0">
              <a:buNone/>
            </a:pPr>
            <a:r>
              <a:rPr lang="en-US" sz="1300" b="1" dirty="0">
                <a:solidFill>
                  <a:srgbClr val="0D2B4E"/>
                </a:solidFill>
                <a:latin typeface="Calibri" pitchFamily="34" charset="0"/>
                <a:ea typeface="Calibri" pitchFamily="34" charset="-122"/>
                <a:cs typeface="Calibri" pitchFamily="34" charset="-120"/>
              </a:rPr>
              <a:t>Increase protein intake</a:t>
            </a:r>
            <a:endParaRPr lang="en-US" sz="1300" dirty="0"/>
          </a:p>
        </p:txBody>
      </p:sp>
      <p:sp>
        <p:nvSpPr>
          <p:cNvPr id="18" name="Text 14"/>
          <p:cNvSpPr/>
          <p:nvPr/>
        </p:nvSpPr>
        <p:spPr>
          <a:xfrm>
            <a:off x="5440680" y="2953512"/>
            <a:ext cx="3200400" cy="566928"/>
          </a:xfrm>
          <a:prstGeom prst="rect">
            <a:avLst/>
          </a:prstGeom>
          <a:noFill/>
          <a:ln/>
        </p:spPr>
        <p:txBody>
          <a:bodyPr wrap="square" rtlCol="0" anchor="ctr"/>
          <a:lstStyle/>
          <a:p>
            <a:pPr indent="0" marL="0">
              <a:buNone/>
            </a:pPr>
            <a:r>
              <a:rPr lang="en-US" sz="1150" dirty="0">
                <a:solidFill>
                  <a:srgbClr val="555555"/>
                </a:solidFill>
                <a:latin typeface="Calibri" pitchFamily="34" charset="0"/>
                <a:ea typeface="Calibri" pitchFamily="34" charset="-122"/>
                <a:cs typeface="Calibri" pitchFamily="34" charset="-120"/>
              </a:rPr>
              <a:t>Target 1.6g per kg body weight. Prioritize protein at every meal.</a:t>
            </a:r>
            <a:endParaRPr lang="en-US" sz="1150" dirty="0"/>
          </a:p>
        </p:txBody>
      </p:sp>
      <p:sp>
        <p:nvSpPr>
          <p:cNvPr id="19" name="Shape 15"/>
          <p:cNvSpPr/>
          <p:nvPr/>
        </p:nvSpPr>
        <p:spPr>
          <a:xfrm>
            <a:off x="4663440" y="3749040"/>
            <a:ext cx="4114800" cy="1097280"/>
          </a:xfrm>
          <a:prstGeom prst="rect">
            <a:avLst/>
          </a:prstGeom>
          <a:solidFill>
            <a:srgbClr val="FFFFFF"/>
          </a:solidFill>
          <a:ln w="12700">
            <a:solidFill>
              <a:srgbClr val="0D7377"/>
            </a:solidFill>
            <a:prstDash val="solid"/>
          </a:ln>
          <a:effectLst>
            <a:outerShdw sx="100000" sy="100000" kx="0" ky="0" algn="bl" rotWithShape="0" blurRad="50800" dist="25400" dir="8100000">
              <a:srgbClr val="000000">
                <a:alpha val="12000"/>
              </a:srgbClr>
            </a:outerShdw>
          </a:effectLst>
        </p:spPr>
      </p:sp>
      <p:sp>
        <p:nvSpPr>
          <p:cNvPr id="20" name="Shape 16"/>
          <p:cNvSpPr/>
          <p:nvPr/>
        </p:nvSpPr>
        <p:spPr>
          <a:xfrm>
            <a:off x="4663440" y="3749040"/>
            <a:ext cx="685800" cy="1097280"/>
          </a:xfrm>
          <a:prstGeom prst="rect">
            <a:avLst/>
          </a:prstGeom>
          <a:solidFill>
            <a:srgbClr val="0D7377"/>
          </a:solidFill>
          <a:ln w="12700">
            <a:solidFill>
              <a:srgbClr val="0D7377"/>
            </a:solidFill>
            <a:prstDash val="solid"/>
          </a:ln>
        </p:spPr>
      </p:sp>
      <p:sp>
        <p:nvSpPr>
          <p:cNvPr id="21" name="Text 17"/>
          <p:cNvSpPr/>
          <p:nvPr/>
        </p:nvSpPr>
        <p:spPr>
          <a:xfrm>
            <a:off x="4672584" y="3794760"/>
            <a:ext cx="667512" cy="411480"/>
          </a:xfrm>
          <a:prstGeom prst="rect">
            <a:avLst/>
          </a:prstGeom>
          <a:noFill/>
          <a:ln/>
        </p:spPr>
        <p:txBody>
          <a:bodyPr wrap="square" rtlCol="0" anchor="ctr"/>
          <a:lstStyle/>
          <a:p>
            <a:pPr algn="ctr" indent="0" marL="0">
              <a:buNone/>
            </a:pPr>
            <a:r>
              <a:rPr lang="en-US" sz="1300" b="1" dirty="0">
                <a:solidFill>
                  <a:srgbClr val="FFFFFF"/>
                </a:solidFill>
                <a:latin typeface="Georgia" pitchFamily="34" charset="0"/>
                <a:ea typeface="Georgia" pitchFamily="34" charset="-122"/>
                <a:cs typeface="Georgia" pitchFamily="34" charset="-120"/>
              </a:rPr>
              <a:t>03</a:t>
            </a:r>
            <a:endParaRPr lang="en-US" sz="1300" dirty="0"/>
          </a:p>
        </p:txBody>
      </p:sp>
      <p:pic>
        <p:nvPicPr>
          <p:cNvPr id="22" name="Image 2" descr="preencoded.png">    </p:cNvPr>
          <p:cNvPicPr>
            <a:picLocks noChangeAspect="1"/>
          </p:cNvPicPr>
          <p:nvPr/>
        </p:nvPicPr>
        <p:blipFill>
          <a:blip r:embed="rId3"/>
          <a:stretch>
            <a:fillRect/>
          </a:stretch>
        </p:blipFill>
        <p:spPr>
          <a:xfrm>
            <a:off x="4736592" y="4224528"/>
            <a:ext cx="365760" cy="365760"/>
          </a:xfrm>
          <a:prstGeom prst="rect">
            <a:avLst/>
          </a:prstGeom>
        </p:spPr>
      </p:pic>
      <p:sp>
        <p:nvSpPr>
          <p:cNvPr id="23" name="Text 18"/>
          <p:cNvSpPr/>
          <p:nvPr/>
        </p:nvSpPr>
        <p:spPr>
          <a:xfrm>
            <a:off x="5440680" y="3840480"/>
            <a:ext cx="3200400" cy="347472"/>
          </a:xfrm>
          <a:prstGeom prst="rect">
            <a:avLst/>
          </a:prstGeom>
          <a:noFill/>
          <a:ln/>
        </p:spPr>
        <p:txBody>
          <a:bodyPr wrap="square" rtlCol="0" anchor="ctr"/>
          <a:lstStyle/>
          <a:p>
            <a:pPr indent="0" marL="0">
              <a:buNone/>
            </a:pPr>
            <a:r>
              <a:rPr lang="en-US" sz="1300" b="1" dirty="0">
                <a:solidFill>
                  <a:srgbClr val="0D2B4E"/>
                </a:solidFill>
                <a:latin typeface="Calibri" pitchFamily="34" charset="0"/>
                <a:ea typeface="Calibri" pitchFamily="34" charset="-122"/>
                <a:cs typeface="Calibri" pitchFamily="34" charset="-120"/>
              </a:rPr>
              <a:t>Stay hydrated</a:t>
            </a:r>
            <a:endParaRPr lang="en-US" sz="1300" dirty="0"/>
          </a:p>
        </p:txBody>
      </p:sp>
      <p:sp>
        <p:nvSpPr>
          <p:cNvPr id="24" name="Text 19"/>
          <p:cNvSpPr/>
          <p:nvPr/>
        </p:nvSpPr>
        <p:spPr>
          <a:xfrm>
            <a:off x="5440680" y="4187952"/>
            <a:ext cx="3200400" cy="566928"/>
          </a:xfrm>
          <a:prstGeom prst="rect">
            <a:avLst/>
          </a:prstGeom>
          <a:noFill/>
          <a:ln/>
        </p:spPr>
        <p:txBody>
          <a:bodyPr wrap="square" rtlCol="0" anchor="ctr"/>
          <a:lstStyle/>
          <a:p>
            <a:pPr indent="0" marL="0">
              <a:buNone/>
            </a:pPr>
            <a:r>
              <a:rPr lang="en-US" sz="1150" dirty="0">
                <a:solidFill>
                  <a:srgbClr val="555555"/>
                </a:solidFill>
                <a:latin typeface="Calibri" pitchFamily="34" charset="0"/>
                <a:ea typeface="Calibri" pitchFamily="34" charset="-122"/>
                <a:cs typeface="Calibri" pitchFamily="34" charset="-120"/>
              </a:rPr>
              <a:t>Estrogen loss causes dryness. Aim for 2L of water per day.</a:t>
            </a:r>
            <a:endParaRPr lang="en-US" sz="11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5F0E8"/>
        </a:solidFill>
      </p:bgPr>
    </p:bg>
    <p:spTree>
      <p:nvGrpSpPr>
        <p:cNvPr id="1" name=""/>
        <p:cNvGrpSpPr/>
        <p:nvPr/>
      </p:nvGrpSpPr>
      <p:grpSpPr>
        <a:xfrm>
          <a:off x="0" y="0"/>
          <a:ext cx="0" cy="0"/>
          <a:chOff x="0" y="0"/>
          <a:chExt cx="0" cy="0"/>
        </a:xfrm>
      </p:grpSpPr>
      <p:sp>
        <p:nvSpPr>
          <p:cNvPr id="2" name="Shape 0"/>
          <p:cNvSpPr/>
          <p:nvPr/>
        </p:nvSpPr>
        <p:spPr>
          <a:xfrm>
            <a:off x="0" y="0"/>
            <a:ext cx="9144000" cy="1005840"/>
          </a:xfrm>
          <a:prstGeom prst="rect">
            <a:avLst/>
          </a:prstGeom>
          <a:solidFill>
            <a:srgbClr val="0D2B4E"/>
          </a:solidFill>
          <a:ln w="12700">
            <a:solidFill>
              <a:srgbClr val="0D2B4E"/>
            </a:solidFill>
            <a:prstDash val="solid"/>
          </a:ln>
        </p:spPr>
      </p:sp>
      <p:sp>
        <p:nvSpPr>
          <p:cNvPr id="3" name="Text 1"/>
          <p:cNvSpPr/>
          <p:nvPr/>
        </p:nvSpPr>
        <p:spPr>
          <a:xfrm>
            <a:off x="457200" y="91440"/>
            <a:ext cx="8229600" cy="548640"/>
          </a:xfrm>
          <a:prstGeom prst="rect">
            <a:avLst/>
          </a:prstGeom>
          <a:noFill/>
          <a:ln/>
        </p:spPr>
        <p:txBody>
          <a:bodyPr wrap="square" rtlCol="0" anchor="ctr"/>
          <a:lstStyle/>
          <a:p>
            <a:pPr indent="0" marL="0">
              <a:buNone/>
            </a:pPr>
            <a:r>
              <a:rPr lang="en-US" sz="3200" b="1" dirty="0">
                <a:solidFill>
                  <a:srgbClr val="FFFFFF"/>
                </a:solidFill>
                <a:latin typeface="Georgia" pitchFamily="34" charset="0"/>
                <a:ea typeface="Georgia" pitchFamily="34" charset="-122"/>
                <a:cs typeface="Georgia" pitchFamily="34" charset="-120"/>
              </a:rPr>
              <a:t>You're in the Driver's Seat</a:t>
            </a:r>
            <a:endParaRPr lang="en-US" sz="3200" dirty="0"/>
          </a:p>
        </p:txBody>
      </p:sp>
      <p:sp>
        <p:nvSpPr>
          <p:cNvPr id="4" name="Text 2"/>
          <p:cNvSpPr/>
          <p:nvPr/>
        </p:nvSpPr>
        <p:spPr>
          <a:xfrm>
            <a:off x="457200" y="621792"/>
            <a:ext cx="8229600" cy="320040"/>
          </a:xfrm>
          <a:prstGeom prst="rect">
            <a:avLst/>
          </a:prstGeom>
          <a:noFill/>
          <a:ln/>
        </p:spPr>
        <p:txBody>
          <a:bodyPr wrap="square" rtlCol="0" anchor="ctr"/>
          <a:lstStyle/>
          <a:p>
            <a:pPr indent="0" marL="0">
              <a:buNone/>
            </a:pPr>
            <a:r>
              <a:rPr lang="en-US" sz="1400" i="1" dirty="0">
                <a:solidFill>
                  <a:srgbClr val="C4913A"/>
                </a:solidFill>
                <a:latin typeface="Calibri" pitchFamily="34" charset="0"/>
                <a:ea typeface="Calibri" pitchFamily="34" charset="-122"/>
                <a:cs typeface="Calibri" pitchFamily="34" charset="-120"/>
              </a:rPr>
              <a:t>What to start doing today</a:t>
            </a:r>
            <a:endParaRPr lang="en-US" sz="1400" dirty="0"/>
          </a:p>
        </p:txBody>
      </p:sp>
      <p:sp>
        <p:nvSpPr>
          <p:cNvPr id="5" name="Shape 3"/>
          <p:cNvSpPr/>
          <p:nvPr/>
        </p:nvSpPr>
        <p:spPr>
          <a:xfrm>
            <a:off x="274320" y="1143000"/>
            <a:ext cx="4251960" cy="1097280"/>
          </a:xfrm>
          <a:prstGeom prst="rect">
            <a:avLst/>
          </a:prstGeom>
          <a:solidFill>
            <a:srgbClr val="FFFFFF"/>
          </a:solidFill>
          <a:ln w="12700">
            <a:solidFill>
              <a:srgbClr val="0D7377"/>
            </a:solidFill>
            <a:prstDash val="solid"/>
          </a:ln>
          <a:effectLst>
            <a:outerShdw sx="100000" sy="100000" kx="0" ky="0" algn="bl" rotWithShape="0" blurRad="50800" dist="25400" dir="8100000">
              <a:srgbClr val="000000">
                <a:alpha val="10000"/>
              </a:srgbClr>
            </a:outerShdw>
          </a:effectLst>
        </p:spPr>
      </p:sp>
      <p:sp>
        <p:nvSpPr>
          <p:cNvPr id="6" name="Shape 4"/>
          <p:cNvSpPr/>
          <p:nvPr/>
        </p:nvSpPr>
        <p:spPr>
          <a:xfrm>
            <a:off x="365760" y="1325880"/>
            <a:ext cx="548640" cy="548640"/>
          </a:xfrm>
          <a:prstGeom prst="ellipse">
            <a:avLst/>
          </a:prstGeom>
          <a:solidFill>
            <a:srgbClr val="0D7377">
              <a:alpha val="80000"/>
            </a:srgbClr>
          </a:solidFill>
          <a:ln w="12700">
            <a:solidFill>
              <a:srgbClr val="0D7377"/>
            </a:solidFill>
            <a:prstDash val="solid"/>
          </a:ln>
        </p:spPr>
      </p:sp>
      <p:pic>
        <p:nvPicPr>
          <p:cNvPr id="7" name="Image 0" descr="preencoded.png">    </p:cNvPr>
          <p:cNvPicPr>
            <a:picLocks noChangeAspect="1"/>
          </p:cNvPicPr>
          <p:nvPr/>
        </p:nvPicPr>
        <p:blipFill>
          <a:blip r:embed="rId1"/>
          <a:stretch>
            <a:fillRect/>
          </a:stretch>
        </p:blipFill>
        <p:spPr>
          <a:xfrm>
            <a:off x="429768" y="1371600"/>
            <a:ext cx="420624" cy="420624"/>
          </a:xfrm>
          <a:prstGeom prst="rect">
            <a:avLst/>
          </a:prstGeom>
        </p:spPr>
      </p:pic>
      <p:sp>
        <p:nvSpPr>
          <p:cNvPr id="8" name="Shape 5"/>
          <p:cNvSpPr/>
          <p:nvPr/>
        </p:nvSpPr>
        <p:spPr>
          <a:xfrm>
            <a:off x="1005840" y="1143000"/>
            <a:ext cx="36576" cy="1097280"/>
          </a:xfrm>
          <a:prstGeom prst="rect">
            <a:avLst/>
          </a:prstGeom>
          <a:solidFill>
            <a:srgbClr val="0D7377"/>
          </a:solidFill>
          <a:ln w="12700">
            <a:solidFill>
              <a:srgbClr val="0D7377"/>
            </a:solidFill>
            <a:prstDash val="solid"/>
          </a:ln>
        </p:spPr>
      </p:sp>
      <p:sp>
        <p:nvSpPr>
          <p:cNvPr id="9" name="Text 6"/>
          <p:cNvSpPr/>
          <p:nvPr/>
        </p:nvSpPr>
        <p:spPr>
          <a:xfrm>
            <a:off x="1143000" y="1234440"/>
            <a:ext cx="3246120" cy="320040"/>
          </a:xfrm>
          <a:prstGeom prst="rect">
            <a:avLst/>
          </a:prstGeom>
          <a:noFill/>
          <a:ln/>
        </p:spPr>
        <p:txBody>
          <a:bodyPr wrap="square" rtlCol="0" anchor="ctr"/>
          <a:lstStyle/>
          <a:p>
            <a:pPr indent="0" marL="0">
              <a:buNone/>
            </a:pPr>
            <a:r>
              <a:rPr lang="en-US" sz="1300" b="1" dirty="0">
                <a:solidFill>
                  <a:srgbClr val="0D2B4E"/>
                </a:solidFill>
                <a:latin typeface="Calibri" pitchFamily="34" charset="0"/>
                <a:ea typeface="Calibri" pitchFamily="34" charset="-122"/>
                <a:cs typeface="Calibri" pitchFamily="34" charset="-120"/>
              </a:rPr>
              <a:t>Talk to Your Doctor</a:t>
            </a:r>
            <a:endParaRPr lang="en-US" sz="1300" dirty="0"/>
          </a:p>
        </p:txBody>
      </p:sp>
      <p:sp>
        <p:nvSpPr>
          <p:cNvPr id="10" name="Text 7"/>
          <p:cNvSpPr/>
          <p:nvPr/>
        </p:nvSpPr>
        <p:spPr>
          <a:xfrm>
            <a:off x="1143000" y="1554480"/>
            <a:ext cx="3246120" cy="594360"/>
          </a:xfrm>
          <a:prstGeom prst="rect">
            <a:avLst/>
          </a:prstGeom>
          <a:noFill/>
          <a:ln/>
        </p:spPr>
        <p:txBody>
          <a:bodyPr wrap="square" rtlCol="0" anchor="t"/>
          <a:lstStyle/>
          <a:p>
            <a:pPr indent="0" marL="0">
              <a:buNone/>
            </a:pPr>
            <a:r>
              <a:rPr lang="en-US" sz="1150" dirty="0">
                <a:solidFill>
                  <a:srgbClr val="444444"/>
                </a:solidFill>
                <a:latin typeface="Calibri" pitchFamily="34" charset="0"/>
                <a:ea typeface="Calibri" pitchFamily="34" charset="-122"/>
                <a:cs typeface="Calibri" pitchFamily="34" charset="-120"/>
              </a:rPr>
              <a:t>Share what you've learned today. Ask about adjusting your PD medications around hormonal changes. Advocate for yourself.</a:t>
            </a:r>
            <a:endParaRPr lang="en-US" sz="1150" dirty="0"/>
          </a:p>
        </p:txBody>
      </p:sp>
      <p:sp>
        <p:nvSpPr>
          <p:cNvPr id="11" name="Shape 8"/>
          <p:cNvSpPr/>
          <p:nvPr/>
        </p:nvSpPr>
        <p:spPr>
          <a:xfrm>
            <a:off x="274320" y="2377440"/>
            <a:ext cx="4251960" cy="1097280"/>
          </a:xfrm>
          <a:prstGeom prst="rect">
            <a:avLst/>
          </a:prstGeom>
          <a:solidFill>
            <a:srgbClr val="FFFFFF"/>
          </a:solidFill>
          <a:ln w="12700">
            <a:solidFill>
              <a:srgbClr val="0D7377"/>
            </a:solidFill>
            <a:prstDash val="solid"/>
          </a:ln>
          <a:effectLst>
            <a:outerShdw sx="100000" sy="100000" kx="0" ky="0" algn="bl" rotWithShape="0" blurRad="50800" dist="25400" dir="8100000">
              <a:srgbClr val="000000">
                <a:alpha val="10000"/>
              </a:srgbClr>
            </a:outerShdw>
          </a:effectLst>
        </p:spPr>
      </p:sp>
      <p:sp>
        <p:nvSpPr>
          <p:cNvPr id="12" name="Shape 9"/>
          <p:cNvSpPr/>
          <p:nvPr/>
        </p:nvSpPr>
        <p:spPr>
          <a:xfrm>
            <a:off x="365760" y="2560320"/>
            <a:ext cx="548640" cy="548640"/>
          </a:xfrm>
          <a:prstGeom prst="ellipse">
            <a:avLst/>
          </a:prstGeom>
          <a:solidFill>
            <a:srgbClr val="0D7377">
              <a:alpha val="80000"/>
            </a:srgbClr>
          </a:solidFill>
          <a:ln w="12700">
            <a:solidFill>
              <a:srgbClr val="0D7377"/>
            </a:solidFill>
            <a:prstDash val="solid"/>
          </a:ln>
        </p:spPr>
      </p:sp>
      <p:pic>
        <p:nvPicPr>
          <p:cNvPr id="13" name="Image 1" descr="preencoded.png">    </p:cNvPr>
          <p:cNvPicPr>
            <a:picLocks noChangeAspect="1"/>
          </p:cNvPicPr>
          <p:nvPr/>
        </p:nvPicPr>
        <p:blipFill>
          <a:blip r:embed="rId2"/>
          <a:stretch>
            <a:fillRect/>
          </a:stretch>
        </p:blipFill>
        <p:spPr>
          <a:xfrm>
            <a:off x="429768" y="2606040"/>
            <a:ext cx="420624" cy="420624"/>
          </a:xfrm>
          <a:prstGeom prst="rect">
            <a:avLst/>
          </a:prstGeom>
        </p:spPr>
      </p:pic>
      <p:sp>
        <p:nvSpPr>
          <p:cNvPr id="14" name="Shape 10"/>
          <p:cNvSpPr/>
          <p:nvPr/>
        </p:nvSpPr>
        <p:spPr>
          <a:xfrm>
            <a:off x="1005840" y="2377440"/>
            <a:ext cx="36576" cy="1097280"/>
          </a:xfrm>
          <a:prstGeom prst="rect">
            <a:avLst/>
          </a:prstGeom>
          <a:solidFill>
            <a:srgbClr val="0D7377"/>
          </a:solidFill>
          <a:ln w="12700">
            <a:solidFill>
              <a:srgbClr val="0D7377"/>
            </a:solidFill>
            <a:prstDash val="solid"/>
          </a:ln>
        </p:spPr>
      </p:sp>
      <p:sp>
        <p:nvSpPr>
          <p:cNvPr id="15" name="Text 11"/>
          <p:cNvSpPr/>
          <p:nvPr/>
        </p:nvSpPr>
        <p:spPr>
          <a:xfrm>
            <a:off x="1143000" y="2468880"/>
            <a:ext cx="3246120" cy="320040"/>
          </a:xfrm>
          <a:prstGeom prst="rect">
            <a:avLst/>
          </a:prstGeom>
          <a:noFill/>
          <a:ln/>
        </p:spPr>
        <p:txBody>
          <a:bodyPr wrap="square" rtlCol="0" anchor="ctr"/>
          <a:lstStyle/>
          <a:p>
            <a:pPr indent="0" marL="0">
              <a:buNone/>
            </a:pPr>
            <a:r>
              <a:rPr lang="en-US" sz="1300" b="1" dirty="0">
                <a:solidFill>
                  <a:srgbClr val="0D2B4E"/>
                </a:solidFill>
                <a:latin typeface="Calibri" pitchFamily="34" charset="0"/>
                <a:ea typeface="Calibri" pitchFamily="34" charset="-122"/>
                <a:cs typeface="Calibri" pitchFamily="34" charset="-120"/>
              </a:rPr>
              <a:t>Explore HRT</a:t>
            </a:r>
            <a:endParaRPr lang="en-US" sz="1300" dirty="0"/>
          </a:p>
        </p:txBody>
      </p:sp>
      <p:sp>
        <p:nvSpPr>
          <p:cNvPr id="16" name="Text 12"/>
          <p:cNvSpPr/>
          <p:nvPr/>
        </p:nvSpPr>
        <p:spPr>
          <a:xfrm>
            <a:off x="1143000" y="2788920"/>
            <a:ext cx="3246120" cy="594360"/>
          </a:xfrm>
          <a:prstGeom prst="rect">
            <a:avLst/>
          </a:prstGeom>
          <a:noFill/>
          <a:ln/>
        </p:spPr>
        <p:txBody>
          <a:bodyPr wrap="square" rtlCol="0" anchor="t"/>
          <a:lstStyle/>
          <a:p>
            <a:pPr indent="0" marL="0">
              <a:buNone/>
            </a:pPr>
            <a:r>
              <a:rPr lang="en-US" sz="1150" dirty="0">
                <a:solidFill>
                  <a:srgbClr val="444444"/>
                </a:solidFill>
                <a:latin typeface="Calibri" pitchFamily="34" charset="0"/>
                <a:ea typeface="Calibri" pitchFamily="34" charset="-122"/>
                <a:cs typeface="Calibri" pitchFamily="34" charset="-120"/>
              </a:rPr>
              <a:t>Hormone Replacement Therapy may improve symptoms -- discuss with your gynaecologist AND neurologist together. One size does not fit all.</a:t>
            </a:r>
            <a:endParaRPr lang="en-US" sz="1150" dirty="0"/>
          </a:p>
        </p:txBody>
      </p:sp>
      <p:sp>
        <p:nvSpPr>
          <p:cNvPr id="17" name="Shape 13"/>
          <p:cNvSpPr/>
          <p:nvPr/>
        </p:nvSpPr>
        <p:spPr>
          <a:xfrm>
            <a:off x="274320" y="3611880"/>
            <a:ext cx="4251960" cy="1097280"/>
          </a:xfrm>
          <a:prstGeom prst="rect">
            <a:avLst/>
          </a:prstGeom>
          <a:solidFill>
            <a:srgbClr val="FFFFFF"/>
          </a:solidFill>
          <a:ln w="12700">
            <a:solidFill>
              <a:srgbClr val="0D7377"/>
            </a:solidFill>
            <a:prstDash val="solid"/>
          </a:ln>
          <a:effectLst>
            <a:outerShdw sx="100000" sy="100000" kx="0" ky="0" algn="bl" rotWithShape="0" blurRad="50800" dist="25400" dir="8100000">
              <a:srgbClr val="000000">
                <a:alpha val="10000"/>
              </a:srgbClr>
            </a:outerShdw>
          </a:effectLst>
        </p:spPr>
      </p:sp>
      <p:sp>
        <p:nvSpPr>
          <p:cNvPr id="18" name="Shape 14"/>
          <p:cNvSpPr/>
          <p:nvPr/>
        </p:nvSpPr>
        <p:spPr>
          <a:xfrm>
            <a:off x="365760" y="3794760"/>
            <a:ext cx="548640" cy="548640"/>
          </a:xfrm>
          <a:prstGeom prst="ellipse">
            <a:avLst/>
          </a:prstGeom>
          <a:solidFill>
            <a:srgbClr val="0D7377">
              <a:alpha val="80000"/>
            </a:srgbClr>
          </a:solidFill>
          <a:ln w="12700">
            <a:solidFill>
              <a:srgbClr val="0D7377"/>
            </a:solidFill>
            <a:prstDash val="solid"/>
          </a:ln>
        </p:spPr>
      </p:sp>
      <p:pic>
        <p:nvPicPr>
          <p:cNvPr id="19" name="Image 2" descr="preencoded.png">    </p:cNvPr>
          <p:cNvPicPr>
            <a:picLocks noChangeAspect="1"/>
          </p:cNvPicPr>
          <p:nvPr/>
        </p:nvPicPr>
        <p:blipFill>
          <a:blip r:embed="rId3"/>
          <a:stretch>
            <a:fillRect/>
          </a:stretch>
        </p:blipFill>
        <p:spPr>
          <a:xfrm>
            <a:off x="429768" y="3840480"/>
            <a:ext cx="420624" cy="420624"/>
          </a:xfrm>
          <a:prstGeom prst="rect">
            <a:avLst/>
          </a:prstGeom>
        </p:spPr>
      </p:pic>
      <p:sp>
        <p:nvSpPr>
          <p:cNvPr id="20" name="Shape 15"/>
          <p:cNvSpPr/>
          <p:nvPr/>
        </p:nvSpPr>
        <p:spPr>
          <a:xfrm>
            <a:off x="1005840" y="3611880"/>
            <a:ext cx="36576" cy="1097280"/>
          </a:xfrm>
          <a:prstGeom prst="rect">
            <a:avLst/>
          </a:prstGeom>
          <a:solidFill>
            <a:srgbClr val="0D7377"/>
          </a:solidFill>
          <a:ln w="12700">
            <a:solidFill>
              <a:srgbClr val="0D7377"/>
            </a:solidFill>
            <a:prstDash val="solid"/>
          </a:ln>
        </p:spPr>
      </p:sp>
      <p:sp>
        <p:nvSpPr>
          <p:cNvPr id="21" name="Text 16"/>
          <p:cNvSpPr/>
          <p:nvPr/>
        </p:nvSpPr>
        <p:spPr>
          <a:xfrm>
            <a:off x="1143000" y="3703320"/>
            <a:ext cx="3246120" cy="320040"/>
          </a:xfrm>
          <a:prstGeom prst="rect">
            <a:avLst/>
          </a:prstGeom>
          <a:noFill/>
          <a:ln/>
        </p:spPr>
        <p:txBody>
          <a:bodyPr wrap="square" rtlCol="0" anchor="ctr"/>
          <a:lstStyle/>
          <a:p>
            <a:pPr indent="0" marL="0">
              <a:buNone/>
            </a:pPr>
            <a:r>
              <a:rPr lang="en-US" sz="1300" b="1" dirty="0">
                <a:solidFill>
                  <a:srgbClr val="0D2B4E"/>
                </a:solidFill>
                <a:latin typeface="Calibri" pitchFamily="34" charset="0"/>
                <a:ea typeface="Calibri" pitchFamily="34" charset="-122"/>
                <a:cs typeface="Calibri" pitchFamily="34" charset="-120"/>
              </a:rPr>
              <a:t>Eat to Support Your Brain</a:t>
            </a:r>
            <a:endParaRPr lang="en-US" sz="1300" dirty="0"/>
          </a:p>
        </p:txBody>
      </p:sp>
      <p:sp>
        <p:nvSpPr>
          <p:cNvPr id="22" name="Text 17"/>
          <p:cNvSpPr/>
          <p:nvPr/>
        </p:nvSpPr>
        <p:spPr>
          <a:xfrm>
            <a:off x="1143000" y="4023360"/>
            <a:ext cx="3246120" cy="594360"/>
          </a:xfrm>
          <a:prstGeom prst="rect">
            <a:avLst/>
          </a:prstGeom>
          <a:noFill/>
          <a:ln/>
        </p:spPr>
        <p:txBody>
          <a:bodyPr wrap="square" rtlCol="0" anchor="t"/>
          <a:lstStyle/>
          <a:p>
            <a:pPr indent="0" marL="0">
              <a:buNone/>
            </a:pPr>
            <a:r>
              <a:rPr lang="en-US" sz="1150" dirty="0">
                <a:solidFill>
                  <a:srgbClr val="444444"/>
                </a:solidFill>
                <a:latin typeface="Calibri" pitchFamily="34" charset="0"/>
                <a:ea typeface="Calibri" pitchFamily="34" charset="-122"/>
                <a:cs typeface="Calibri" pitchFamily="34" charset="-120"/>
              </a:rPr>
              <a:t>Anti-inflammatory foods: berries, olive oil, fatty fish. Limit sugar -- inflammation worsens both menopause and PD. Protein first.</a:t>
            </a:r>
            <a:endParaRPr lang="en-US" sz="1150" dirty="0"/>
          </a:p>
        </p:txBody>
      </p:sp>
      <p:sp>
        <p:nvSpPr>
          <p:cNvPr id="23" name="Shape 18"/>
          <p:cNvSpPr/>
          <p:nvPr/>
        </p:nvSpPr>
        <p:spPr>
          <a:xfrm>
            <a:off x="4800600" y="1143000"/>
            <a:ext cx="4251960" cy="1097280"/>
          </a:xfrm>
          <a:prstGeom prst="rect">
            <a:avLst/>
          </a:prstGeom>
          <a:solidFill>
            <a:srgbClr val="FFFFFF"/>
          </a:solidFill>
          <a:ln w="12700">
            <a:solidFill>
              <a:srgbClr val="0D7377"/>
            </a:solidFill>
            <a:prstDash val="solid"/>
          </a:ln>
          <a:effectLst>
            <a:outerShdw sx="100000" sy="100000" kx="0" ky="0" algn="bl" rotWithShape="0" blurRad="50800" dist="25400" dir="8100000">
              <a:srgbClr val="000000">
                <a:alpha val="10000"/>
              </a:srgbClr>
            </a:outerShdw>
          </a:effectLst>
        </p:spPr>
      </p:sp>
      <p:sp>
        <p:nvSpPr>
          <p:cNvPr id="24" name="Shape 19"/>
          <p:cNvSpPr/>
          <p:nvPr/>
        </p:nvSpPr>
        <p:spPr>
          <a:xfrm>
            <a:off x="4892040" y="1325880"/>
            <a:ext cx="548640" cy="548640"/>
          </a:xfrm>
          <a:prstGeom prst="ellipse">
            <a:avLst/>
          </a:prstGeom>
          <a:solidFill>
            <a:srgbClr val="0D7377">
              <a:alpha val="80000"/>
            </a:srgbClr>
          </a:solidFill>
          <a:ln w="12700">
            <a:solidFill>
              <a:srgbClr val="0D7377"/>
            </a:solidFill>
            <a:prstDash val="solid"/>
          </a:ln>
        </p:spPr>
      </p:sp>
      <p:pic>
        <p:nvPicPr>
          <p:cNvPr id="25" name="Image 3" descr="preencoded.png">    </p:cNvPr>
          <p:cNvPicPr>
            <a:picLocks noChangeAspect="1"/>
          </p:cNvPicPr>
          <p:nvPr/>
        </p:nvPicPr>
        <p:blipFill>
          <a:blip r:embed="rId4"/>
          <a:stretch>
            <a:fillRect/>
          </a:stretch>
        </p:blipFill>
        <p:spPr>
          <a:xfrm>
            <a:off x="4956048" y="1371600"/>
            <a:ext cx="420624" cy="420624"/>
          </a:xfrm>
          <a:prstGeom prst="rect">
            <a:avLst/>
          </a:prstGeom>
        </p:spPr>
      </p:pic>
      <p:sp>
        <p:nvSpPr>
          <p:cNvPr id="26" name="Shape 20"/>
          <p:cNvSpPr/>
          <p:nvPr/>
        </p:nvSpPr>
        <p:spPr>
          <a:xfrm>
            <a:off x="5532120" y="1143000"/>
            <a:ext cx="36576" cy="1097280"/>
          </a:xfrm>
          <a:prstGeom prst="rect">
            <a:avLst/>
          </a:prstGeom>
          <a:solidFill>
            <a:srgbClr val="0D7377"/>
          </a:solidFill>
          <a:ln w="12700">
            <a:solidFill>
              <a:srgbClr val="0D7377"/>
            </a:solidFill>
            <a:prstDash val="solid"/>
          </a:ln>
        </p:spPr>
      </p:sp>
      <p:sp>
        <p:nvSpPr>
          <p:cNvPr id="27" name="Text 21"/>
          <p:cNvSpPr/>
          <p:nvPr/>
        </p:nvSpPr>
        <p:spPr>
          <a:xfrm>
            <a:off x="5669280" y="1234440"/>
            <a:ext cx="3246120" cy="320040"/>
          </a:xfrm>
          <a:prstGeom prst="rect">
            <a:avLst/>
          </a:prstGeom>
          <a:noFill/>
          <a:ln/>
        </p:spPr>
        <p:txBody>
          <a:bodyPr wrap="square" rtlCol="0" anchor="ctr"/>
          <a:lstStyle/>
          <a:p>
            <a:pPr indent="0" marL="0">
              <a:buNone/>
            </a:pPr>
            <a:r>
              <a:rPr lang="en-US" sz="1300" b="1" dirty="0">
                <a:solidFill>
                  <a:srgbClr val="0D2B4E"/>
                </a:solidFill>
                <a:latin typeface="Calibri" pitchFamily="34" charset="0"/>
                <a:ea typeface="Calibri" pitchFamily="34" charset="-122"/>
                <a:cs typeface="Calibri" pitchFamily="34" charset="-120"/>
              </a:rPr>
              <a:t>Lift Heavier Than You Think</a:t>
            </a:r>
            <a:endParaRPr lang="en-US" sz="1300" dirty="0"/>
          </a:p>
        </p:txBody>
      </p:sp>
      <p:sp>
        <p:nvSpPr>
          <p:cNvPr id="28" name="Text 22"/>
          <p:cNvSpPr/>
          <p:nvPr/>
        </p:nvSpPr>
        <p:spPr>
          <a:xfrm>
            <a:off x="5669280" y="1554480"/>
            <a:ext cx="3246120" cy="594360"/>
          </a:xfrm>
          <a:prstGeom prst="rect">
            <a:avLst/>
          </a:prstGeom>
          <a:noFill/>
          <a:ln/>
        </p:spPr>
        <p:txBody>
          <a:bodyPr wrap="square" rtlCol="0" anchor="t"/>
          <a:lstStyle/>
          <a:p>
            <a:pPr indent="0" marL="0">
              <a:buNone/>
            </a:pPr>
            <a:r>
              <a:rPr lang="en-US" sz="1150" dirty="0">
                <a:solidFill>
                  <a:srgbClr val="444444"/>
                </a:solidFill>
                <a:latin typeface="Calibri" pitchFamily="34" charset="0"/>
                <a:ea typeface="Calibri" pitchFamily="34" charset="-122"/>
                <a:cs typeface="Calibri" pitchFamily="34" charset="-120"/>
              </a:rPr>
              <a:t>Weight training is more important than cardio. Start where you are and progress. Your bones, muscles, and brain all benefit.</a:t>
            </a:r>
            <a:endParaRPr lang="en-US" sz="1150" dirty="0"/>
          </a:p>
        </p:txBody>
      </p:sp>
      <p:sp>
        <p:nvSpPr>
          <p:cNvPr id="29" name="Shape 23"/>
          <p:cNvSpPr/>
          <p:nvPr/>
        </p:nvSpPr>
        <p:spPr>
          <a:xfrm>
            <a:off x="4800600" y="2377440"/>
            <a:ext cx="4251960" cy="1097280"/>
          </a:xfrm>
          <a:prstGeom prst="rect">
            <a:avLst/>
          </a:prstGeom>
          <a:solidFill>
            <a:srgbClr val="FFFFFF"/>
          </a:solidFill>
          <a:ln w="12700">
            <a:solidFill>
              <a:srgbClr val="0D7377"/>
            </a:solidFill>
            <a:prstDash val="solid"/>
          </a:ln>
          <a:effectLst>
            <a:outerShdw sx="100000" sy="100000" kx="0" ky="0" algn="bl" rotWithShape="0" blurRad="50800" dist="25400" dir="8100000">
              <a:srgbClr val="000000">
                <a:alpha val="10000"/>
              </a:srgbClr>
            </a:outerShdw>
          </a:effectLst>
        </p:spPr>
      </p:sp>
      <p:sp>
        <p:nvSpPr>
          <p:cNvPr id="30" name="Shape 24"/>
          <p:cNvSpPr/>
          <p:nvPr/>
        </p:nvSpPr>
        <p:spPr>
          <a:xfrm>
            <a:off x="4892040" y="2560320"/>
            <a:ext cx="548640" cy="548640"/>
          </a:xfrm>
          <a:prstGeom prst="ellipse">
            <a:avLst/>
          </a:prstGeom>
          <a:solidFill>
            <a:srgbClr val="0D7377">
              <a:alpha val="80000"/>
            </a:srgbClr>
          </a:solidFill>
          <a:ln w="12700">
            <a:solidFill>
              <a:srgbClr val="0D7377"/>
            </a:solidFill>
            <a:prstDash val="solid"/>
          </a:ln>
        </p:spPr>
      </p:sp>
      <p:pic>
        <p:nvPicPr>
          <p:cNvPr id="31" name="Image 4" descr="preencoded.png">    </p:cNvPr>
          <p:cNvPicPr>
            <a:picLocks noChangeAspect="1"/>
          </p:cNvPicPr>
          <p:nvPr/>
        </p:nvPicPr>
        <p:blipFill>
          <a:blip r:embed="rId5"/>
          <a:stretch>
            <a:fillRect/>
          </a:stretch>
        </p:blipFill>
        <p:spPr>
          <a:xfrm>
            <a:off x="4956048" y="2606040"/>
            <a:ext cx="420624" cy="420624"/>
          </a:xfrm>
          <a:prstGeom prst="rect">
            <a:avLst/>
          </a:prstGeom>
        </p:spPr>
      </p:pic>
      <p:sp>
        <p:nvSpPr>
          <p:cNvPr id="32" name="Shape 25"/>
          <p:cNvSpPr/>
          <p:nvPr/>
        </p:nvSpPr>
        <p:spPr>
          <a:xfrm>
            <a:off x="5532120" y="2377440"/>
            <a:ext cx="36576" cy="1097280"/>
          </a:xfrm>
          <a:prstGeom prst="rect">
            <a:avLst/>
          </a:prstGeom>
          <a:solidFill>
            <a:srgbClr val="0D7377"/>
          </a:solidFill>
          <a:ln w="12700">
            <a:solidFill>
              <a:srgbClr val="0D7377"/>
            </a:solidFill>
            <a:prstDash val="solid"/>
          </a:ln>
        </p:spPr>
      </p:sp>
      <p:sp>
        <p:nvSpPr>
          <p:cNvPr id="33" name="Text 26"/>
          <p:cNvSpPr/>
          <p:nvPr/>
        </p:nvSpPr>
        <p:spPr>
          <a:xfrm>
            <a:off x="5669280" y="2468880"/>
            <a:ext cx="3246120" cy="320040"/>
          </a:xfrm>
          <a:prstGeom prst="rect">
            <a:avLst/>
          </a:prstGeom>
          <a:noFill/>
          <a:ln/>
        </p:spPr>
        <p:txBody>
          <a:bodyPr wrap="square" rtlCol="0" anchor="ctr"/>
          <a:lstStyle/>
          <a:p>
            <a:pPr indent="0" marL="0">
              <a:buNone/>
            </a:pPr>
            <a:r>
              <a:rPr lang="en-US" sz="1300" b="1" dirty="0">
                <a:solidFill>
                  <a:srgbClr val="0D2B4E"/>
                </a:solidFill>
                <a:latin typeface="Calibri" pitchFamily="34" charset="0"/>
                <a:ea typeface="Calibri" pitchFamily="34" charset="-122"/>
                <a:cs typeface="Calibri" pitchFamily="34" charset="-120"/>
              </a:rPr>
              <a:t>Track Your Symptoms</a:t>
            </a:r>
            <a:endParaRPr lang="en-US" sz="1300" dirty="0"/>
          </a:p>
        </p:txBody>
      </p:sp>
      <p:sp>
        <p:nvSpPr>
          <p:cNvPr id="34" name="Text 27"/>
          <p:cNvSpPr/>
          <p:nvPr/>
        </p:nvSpPr>
        <p:spPr>
          <a:xfrm>
            <a:off x="5669280" y="2788920"/>
            <a:ext cx="3246120" cy="594360"/>
          </a:xfrm>
          <a:prstGeom prst="rect">
            <a:avLst/>
          </a:prstGeom>
          <a:noFill/>
          <a:ln/>
        </p:spPr>
        <p:txBody>
          <a:bodyPr wrap="square" rtlCol="0" anchor="t"/>
          <a:lstStyle/>
          <a:p>
            <a:pPr indent="0" marL="0">
              <a:buNone/>
            </a:pPr>
            <a:r>
              <a:rPr lang="en-US" sz="1150" dirty="0">
                <a:solidFill>
                  <a:srgbClr val="444444"/>
                </a:solidFill>
                <a:latin typeface="Calibri" pitchFamily="34" charset="0"/>
                <a:ea typeface="Calibri" pitchFamily="34" charset="-122"/>
                <a:cs typeface="Calibri" pitchFamily="34" charset="-120"/>
              </a:rPr>
              <a:t>Note when symptoms change relative to hormonal shifts. This information is gold for your healthcare team.</a:t>
            </a:r>
            <a:endParaRPr lang="en-US" sz="11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2B4E"/>
        </a:solidFill>
      </p:bgPr>
    </p:bg>
    <p:spTree>
      <p:nvGrpSpPr>
        <p:cNvPr id="1" name=""/>
        <p:cNvGrpSpPr/>
        <p:nvPr/>
      </p:nvGrpSpPr>
      <p:grpSpPr>
        <a:xfrm>
          <a:off x="0" y="0"/>
          <a:ext cx="0" cy="0"/>
          <a:chOff x="0" y="0"/>
          <a:chExt cx="0" cy="0"/>
        </a:xfrm>
      </p:grpSpPr>
      <p:sp>
        <p:nvSpPr>
          <p:cNvPr id="2" name="Shape 0"/>
          <p:cNvSpPr/>
          <p:nvPr/>
        </p:nvSpPr>
        <p:spPr>
          <a:xfrm>
            <a:off x="0" y="0"/>
            <a:ext cx="9144000" cy="73152"/>
          </a:xfrm>
          <a:prstGeom prst="rect">
            <a:avLst/>
          </a:prstGeom>
          <a:solidFill>
            <a:srgbClr val="C4913A"/>
          </a:solidFill>
          <a:ln w="12700">
            <a:solidFill>
              <a:srgbClr val="C4913A"/>
            </a:solidFill>
            <a:prstDash val="solid"/>
          </a:ln>
        </p:spPr>
      </p:sp>
      <p:sp>
        <p:nvSpPr>
          <p:cNvPr id="3" name="Shape 1"/>
          <p:cNvSpPr/>
          <p:nvPr/>
        </p:nvSpPr>
        <p:spPr>
          <a:xfrm>
            <a:off x="0" y="5070348"/>
            <a:ext cx="9144000" cy="73152"/>
          </a:xfrm>
          <a:prstGeom prst="rect">
            <a:avLst/>
          </a:prstGeom>
          <a:solidFill>
            <a:srgbClr val="C4913A"/>
          </a:solidFill>
          <a:ln w="12700">
            <a:solidFill>
              <a:srgbClr val="C4913A"/>
            </a:solidFill>
            <a:prstDash val="solid"/>
          </a:ln>
        </p:spPr>
      </p:sp>
      <p:sp>
        <p:nvSpPr>
          <p:cNvPr id="4" name="Shape 2"/>
          <p:cNvSpPr/>
          <p:nvPr/>
        </p:nvSpPr>
        <p:spPr>
          <a:xfrm>
            <a:off x="914400" y="548640"/>
            <a:ext cx="7315200" cy="2286000"/>
          </a:xfrm>
          <a:prstGeom prst="rect">
            <a:avLst/>
          </a:prstGeom>
          <a:solidFill>
            <a:srgbClr val="1A3A5C"/>
          </a:solidFill>
          <a:ln w="19050">
            <a:solidFill>
              <a:srgbClr val="0D7377"/>
            </a:solidFill>
            <a:prstDash val="solid"/>
          </a:ln>
        </p:spPr>
      </p:sp>
      <p:sp>
        <p:nvSpPr>
          <p:cNvPr id="5" name="Text 3"/>
          <p:cNvSpPr/>
          <p:nvPr/>
        </p:nvSpPr>
        <p:spPr>
          <a:xfrm>
            <a:off x="914400" y="640080"/>
            <a:ext cx="7315200" cy="1005840"/>
          </a:xfrm>
          <a:prstGeom prst="rect">
            <a:avLst/>
          </a:prstGeom>
          <a:noFill/>
          <a:ln/>
        </p:spPr>
        <p:txBody>
          <a:bodyPr wrap="square" rtlCol="0" anchor="ctr"/>
          <a:lstStyle/>
          <a:p>
            <a:pPr algn="ctr" indent="0" marL="0">
              <a:buNone/>
            </a:pPr>
            <a:r>
              <a:rPr lang="en-US" sz="5200" b="1" dirty="0">
                <a:solidFill>
                  <a:srgbClr val="FFFFFF"/>
                </a:solidFill>
                <a:latin typeface="Georgia" pitchFamily="34" charset="0"/>
                <a:ea typeface="Georgia" pitchFamily="34" charset="-122"/>
                <a:cs typeface="Georgia" pitchFamily="34" charset="-120"/>
              </a:rPr>
              <a:t>YOU GOT THIS.</a:t>
            </a:r>
            <a:endParaRPr lang="en-US" sz="5200" dirty="0"/>
          </a:p>
        </p:txBody>
      </p:sp>
      <p:sp>
        <p:nvSpPr>
          <p:cNvPr id="6" name="Text 4"/>
          <p:cNvSpPr/>
          <p:nvPr/>
        </p:nvSpPr>
        <p:spPr>
          <a:xfrm>
            <a:off x="1097280" y="1554480"/>
            <a:ext cx="6949440" cy="1097280"/>
          </a:xfrm>
          <a:prstGeom prst="rect">
            <a:avLst/>
          </a:prstGeom>
          <a:noFill/>
          <a:ln/>
        </p:spPr>
        <p:txBody>
          <a:bodyPr wrap="square" rtlCol="0" anchor="ctr"/>
          <a:lstStyle/>
          <a:p>
            <a:pPr algn="ctr" indent="0" marL="0">
              <a:buNone/>
            </a:pPr>
            <a:r>
              <a:rPr lang="en-US" sz="1500" i="1" dirty="0">
                <a:solidFill>
                  <a:srgbClr val="A8C8E8"/>
                </a:solidFill>
                <a:latin typeface="Calibri" pitchFamily="34" charset="0"/>
                <a:ea typeface="Calibri" pitchFamily="34" charset="-122"/>
                <a:cs typeface="Calibri" pitchFamily="34" charset="-120"/>
              </a:rPr>
              <a:t>No one knows your body better than you.</a:t>
            </a:r>
            <a:endParaRPr lang="en-US" sz="1500" dirty="0"/>
          </a:p>
          <a:p>
            <a:pPr algn="ctr" indent="0" marL="0">
              <a:buNone/>
            </a:pPr>
            <a:r>
              <a:rPr lang="en-US" sz="1500" i="1" dirty="0">
                <a:solidFill>
                  <a:srgbClr val="A8C8E8"/>
                </a:solidFill>
                <a:latin typeface="Calibri" pitchFamily="34" charset="0"/>
                <a:ea typeface="Calibri" pitchFamily="34" charset="-122"/>
                <a:cs typeface="Calibri" pitchFamily="34" charset="-120"/>
              </a:rPr>
              <a:t>Track your symptoms, explore your options, and advocate for what works.</a:t>
            </a:r>
            <a:endParaRPr lang="en-US" sz="1500" dirty="0"/>
          </a:p>
        </p:txBody>
      </p:sp>
      <p:sp>
        <p:nvSpPr>
          <p:cNvPr id="7" name="Shape 5"/>
          <p:cNvSpPr/>
          <p:nvPr/>
        </p:nvSpPr>
        <p:spPr>
          <a:xfrm>
            <a:off x="457200" y="3063240"/>
            <a:ext cx="2651760" cy="1691640"/>
          </a:xfrm>
          <a:prstGeom prst="rect">
            <a:avLst/>
          </a:prstGeom>
          <a:solidFill>
            <a:srgbClr val="0D7377">
              <a:alpha val="20000"/>
            </a:srgbClr>
          </a:solidFill>
          <a:ln w="12700">
            <a:solidFill>
              <a:srgbClr val="0D7377"/>
            </a:solidFill>
            <a:prstDash val="solid"/>
          </a:ln>
        </p:spPr>
      </p:sp>
      <p:sp>
        <p:nvSpPr>
          <p:cNvPr id="8" name="Shape 6"/>
          <p:cNvSpPr/>
          <p:nvPr/>
        </p:nvSpPr>
        <p:spPr>
          <a:xfrm>
            <a:off x="1463040" y="3108960"/>
            <a:ext cx="594360" cy="594360"/>
          </a:xfrm>
          <a:prstGeom prst="ellipse">
            <a:avLst/>
          </a:prstGeom>
          <a:solidFill>
            <a:srgbClr val="0D7377"/>
          </a:solidFill>
          <a:ln w="12700">
            <a:solidFill>
              <a:srgbClr val="0D7377"/>
            </a:solidFill>
            <a:prstDash val="solid"/>
          </a:ln>
        </p:spPr>
      </p:sp>
      <p:pic>
        <p:nvPicPr>
          <p:cNvPr id="9" name="Image 0" descr="preencoded.png">    </p:cNvPr>
          <p:cNvPicPr>
            <a:picLocks noChangeAspect="1"/>
          </p:cNvPicPr>
          <p:nvPr/>
        </p:nvPicPr>
        <p:blipFill>
          <a:blip r:embed="rId1"/>
          <a:stretch>
            <a:fillRect/>
          </a:stretch>
        </p:blipFill>
        <p:spPr>
          <a:xfrm>
            <a:off x="1527048" y="3163824"/>
            <a:ext cx="457200" cy="457200"/>
          </a:xfrm>
          <a:prstGeom prst="rect">
            <a:avLst/>
          </a:prstGeom>
        </p:spPr>
      </p:pic>
      <p:sp>
        <p:nvSpPr>
          <p:cNvPr id="10" name="Text 7"/>
          <p:cNvSpPr/>
          <p:nvPr/>
        </p:nvSpPr>
        <p:spPr>
          <a:xfrm>
            <a:off x="548640" y="3611880"/>
            <a:ext cx="2468880" cy="100584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You are not alone in this.</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The PPE program is built for you.</a:t>
            </a:r>
            <a:endParaRPr lang="en-US" sz="1300" dirty="0"/>
          </a:p>
        </p:txBody>
      </p:sp>
      <p:sp>
        <p:nvSpPr>
          <p:cNvPr id="11" name="Shape 8"/>
          <p:cNvSpPr/>
          <p:nvPr/>
        </p:nvSpPr>
        <p:spPr>
          <a:xfrm>
            <a:off x="3337560" y="3063240"/>
            <a:ext cx="2651760" cy="1691640"/>
          </a:xfrm>
          <a:prstGeom prst="rect">
            <a:avLst/>
          </a:prstGeom>
          <a:solidFill>
            <a:srgbClr val="0D7377">
              <a:alpha val="20000"/>
            </a:srgbClr>
          </a:solidFill>
          <a:ln w="12700">
            <a:solidFill>
              <a:srgbClr val="0D7377"/>
            </a:solidFill>
            <a:prstDash val="solid"/>
          </a:ln>
        </p:spPr>
      </p:sp>
      <p:sp>
        <p:nvSpPr>
          <p:cNvPr id="12" name="Shape 9"/>
          <p:cNvSpPr/>
          <p:nvPr/>
        </p:nvSpPr>
        <p:spPr>
          <a:xfrm>
            <a:off x="4343400" y="3108960"/>
            <a:ext cx="594360" cy="594360"/>
          </a:xfrm>
          <a:prstGeom prst="ellipse">
            <a:avLst/>
          </a:prstGeom>
          <a:solidFill>
            <a:srgbClr val="0D7377"/>
          </a:solidFill>
          <a:ln w="12700">
            <a:solidFill>
              <a:srgbClr val="0D7377"/>
            </a:solidFill>
            <a:prstDash val="solid"/>
          </a:ln>
        </p:spPr>
      </p:sp>
      <p:pic>
        <p:nvPicPr>
          <p:cNvPr id="13" name="Image 1" descr="preencoded.png">    </p:cNvPr>
          <p:cNvPicPr>
            <a:picLocks noChangeAspect="1"/>
          </p:cNvPicPr>
          <p:nvPr/>
        </p:nvPicPr>
        <p:blipFill>
          <a:blip r:embed="rId2"/>
          <a:stretch>
            <a:fillRect/>
          </a:stretch>
        </p:blipFill>
        <p:spPr>
          <a:xfrm>
            <a:off x="4407408" y="3163824"/>
            <a:ext cx="457200" cy="457200"/>
          </a:xfrm>
          <a:prstGeom prst="rect">
            <a:avLst/>
          </a:prstGeom>
        </p:spPr>
      </p:pic>
      <p:sp>
        <p:nvSpPr>
          <p:cNvPr id="14" name="Text 10"/>
          <p:cNvSpPr/>
          <p:nvPr/>
        </p:nvSpPr>
        <p:spPr>
          <a:xfrm>
            <a:off x="3429000" y="3611880"/>
            <a:ext cx="2468880" cy="100584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Estrogen leaving doesn't mean</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your power leaves with it.</a:t>
            </a:r>
            <a:endParaRPr lang="en-US" sz="1300" dirty="0"/>
          </a:p>
        </p:txBody>
      </p:sp>
      <p:sp>
        <p:nvSpPr>
          <p:cNvPr id="15" name="Shape 11"/>
          <p:cNvSpPr/>
          <p:nvPr/>
        </p:nvSpPr>
        <p:spPr>
          <a:xfrm>
            <a:off x="6217920" y="3063240"/>
            <a:ext cx="2651760" cy="1691640"/>
          </a:xfrm>
          <a:prstGeom prst="rect">
            <a:avLst/>
          </a:prstGeom>
          <a:solidFill>
            <a:srgbClr val="0D7377">
              <a:alpha val="20000"/>
            </a:srgbClr>
          </a:solidFill>
          <a:ln w="12700">
            <a:solidFill>
              <a:srgbClr val="0D7377"/>
            </a:solidFill>
            <a:prstDash val="solid"/>
          </a:ln>
        </p:spPr>
      </p:sp>
      <p:sp>
        <p:nvSpPr>
          <p:cNvPr id="16" name="Shape 12"/>
          <p:cNvSpPr/>
          <p:nvPr/>
        </p:nvSpPr>
        <p:spPr>
          <a:xfrm>
            <a:off x="7223760" y="3108960"/>
            <a:ext cx="594360" cy="594360"/>
          </a:xfrm>
          <a:prstGeom prst="ellipse">
            <a:avLst/>
          </a:prstGeom>
          <a:solidFill>
            <a:srgbClr val="0D7377"/>
          </a:solidFill>
          <a:ln w="12700">
            <a:solidFill>
              <a:srgbClr val="0D7377"/>
            </a:solidFill>
            <a:prstDash val="solid"/>
          </a:ln>
        </p:spPr>
      </p:sp>
      <p:pic>
        <p:nvPicPr>
          <p:cNvPr id="17" name="Image 2" descr="preencoded.png">    </p:cNvPr>
          <p:cNvPicPr>
            <a:picLocks noChangeAspect="1"/>
          </p:cNvPicPr>
          <p:nvPr/>
        </p:nvPicPr>
        <p:blipFill>
          <a:blip r:embed="rId3"/>
          <a:stretch>
            <a:fillRect/>
          </a:stretch>
        </p:blipFill>
        <p:spPr>
          <a:xfrm>
            <a:off x="7287768" y="3163824"/>
            <a:ext cx="457200" cy="457200"/>
          </a:xfrm>
          <a:prstGeom prst="rect">
            <a:avLst/>
          </a:prstGeom>
        </p:spPr>
      </p:pic>
      <p:sp>
        <p:nvSpPr>
          <p:cNvPr id="18" name="Text 13"/>
          <p:cNvSpPr/>
          <p:nvPr/>
        </p:nvSpPr>
        <p:spPr>
          <a:xfrm>
            <a:off x="6309360" y="3611880"/>
            <a:ext cx="2468880" cy="1005840"/>
          </a:xfrm>
          <a:prstGeom prst="rect">
            <a:avLst/>
          </a:prstGeom>
          <a:noFill/>
          <a:ln/>
        </p:spPr>
        <p:txBody>
          <a:bodyPr wrap="square" rtlCol="0" anchor="ctr"/>
          <a:lstStyle/>
          <a:p>
            <a:pPr algn="ctr" indent="0" marL="0">
              <a:buNone/>
            </a:pPr>
            <a:r>
              <a:rPr lang="en-US" sz="1300" dirty="0">
                <a:solidFill>
                  <a:srgbClr val="FFFFFF"/>
                </a:solidFill>
                <a:latin typeface="Calibri" pitchFamily="34" charset="0"/>
                <a:ea typeface="Calibri" pitchFamily="34" charset="-122"/>
                <a:cs typeface="Calibri" pitchFamily="34" charset="-120"/>
              </a:rPr>
              <a:t>You train. You push. You adapt.</a:t>
            </a:r>
            <a:endParaRPr lang="en-US" sz="1300" dirty="0"/>
          </a:p>
          <a:p>
            <a:pPr algn="ctr" indent="0" marL="0">
              <a:buNone/>
            </a:pPr>
            <a:r>
              <a:rPr lang="en-US" sz="1300" dirty="0">
                <a:solidFill>
                  <a:srgbClr val="FFFFFF"/>
                </a:solidFill>
                <a:latin typeface="Calibri" pitchFamily="34" charset="0"/>
                <a:ea typeface="Calibri" pitchFamily="34" charset="-122"/>
                <a:cs typeface="Calibri" pitchFamily="34" charset="-120"/>
              </a:rPr>
              <a:t>That is your superpower.</a:t>
            </a:r>
            <a:endParaRPr lang="en-US" sz="1300" dirty="0"/>
          </a:p>
        </p:txBody>
      </p:sp>
      <p:sp>
        <p:nvSpPr>
          <p:cNvPr id="19" name="Text 14"/>
          <p:cNvSpPr/>
          <p:nvPr/>
        </p:nvSpPr>
        <p:spPr>
          <a:xfrm>
            <a:off x="457200" y="4892040"/>
            <a:ext cx="8229600" cy="182880"/>
          </a:xfrm>
          <a:prstGeom prst="rect">
            <a:avLst/>
          </a:prstGeom>
          <a:noFill/>
          <a:ln/>
        </p:spPr>
        <p:txBody>
          <a:bodyPr wrap="square" rtlCol="0" anchor="ctr"/>
          <a:lstStyle/>
          <a:p>
            <a:pPr algn="ctr" indent="0" marL="0">
              <a:buNone/>
            </a:pPr>
            <a:r>
              <a:rPr lang="en-US" sz="900" dirty="0">
                <a:solidFill>
                  <a:srgbClr val="6688AA"/>
                </a:solidFill>
                <a:latin typeface="Calibri" pitchFamily="34" charset="0"/>
                <a:ea typeface="Calibri" pitchFamily="34" charset="-122"/>
                <a:cs typeface="Calibri" pitchFamily="34" charset="-120"/>
              </a:rPr>
              <a:t>Boxing 4 Health  |  PPE Program  |  For educational purposes only. Consult your healthcare team.</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When Estrogen Leaves the Building</dc:title>
  <dc:subject>PptxGenJS Presentation</dc:subject>
  <dc:creator>PptxGenJS</dc:creator>
  <cp:lastModifiedBy>PptxGenJS</cp:lastModifiedBy>
  <cp:revision>1</cp:revision>
  <dcterms:created xsi:type="dcterms:W3CDTF">2026-03-08T23:50:20Z</dcterms:created>
  <dcterms:modified xsi:type="dcterms:W3CDTF">2026-03-08T23:50:20Z</dcterms:modified>
</cp:coreProperties>
</file>